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MASTER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E2D4"/>
          </a:solidFill>
          <a:ln w="12700">
            <a:solidFill>
              <a:srgbClr val="41E2D4">
                <a:alpha val="0"/>
              </a:srgbClr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E2D4"/>
          </a:solidFill>
          <a:ln w="1270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92440" y="-1188720"/>
            <a:ext cx="5029200" cy="5029200"/>
          </a:xfrm>
          <a:prstGeom prst="ellipse">
            <a:avLst/>
          </a:prstGeom>
          <a:solidFill>
            <a:srgbClr val="0B1020">
              <a:alpha val="0"/>
            </a:srgbClr>
          </a:solidFill>
          <a:ln w="19050">
            <a:solidFill>
              <a:srgbClr val="1B3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-640080"/>
            <a:ext cx="3931920" cy="3931920"/>
          </a:xfrm>
          <a:prstGeom prst="ellipse">
            <a:avLst/>
          </a:prstGeom>
          <a:solidFill>
            <a:srgbClr val="0B1020">
              <a:alpha val="0"/>
            </a:srgbClr>
          </a:solidFill>
          <a:ln w="13970">
            <a:solidFill>
              <a:srgbClr val="2048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25712" y="-155448"/>
            <a:ext cx="2971800" cy="2971800"/>
          </a:xfrm>
          <a:prstGeom prst="ellipse">
            <a:avLst/>
          </a:prstGeom>
          <a:solidFill>
            <a:srgbClr val="0B1020">
              <a:alpha val="0"/>
            </a:srgbClr>
          </a:solidFill>
          <a:ln w="12700">
            <a:solidFill>
              <a:srgbClr val="286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566928"/>
            <a:ext cx="2423160" cy="347472"/>
          </a:xfrm>
          <a:prstGeom prst="roundRect">
            <a:avLst>
              <a:gd name="adj" fmla="val 31579"/>
            </a:avLst>
          </a:prstGeom>
          <a:solidFill>
            <a:srgbClr val="1B2B43"/>
          </a:solidFill>
          <a:ln w="10160">
            <a:solidFill>
              <a:srgbClr val="1B2B43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58064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20" kern="0" dirty="0">
                <a:solidFill>
                  <a:srgbClr val="41E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 •  17 OCT 2026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1280160"/>
            <a:ext cx="57607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LINUX DEBUGGING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670048"/>
            <a:ext cx="5715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41E2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 Leak Detection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41E2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Reporting Tool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76732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C-based Linux tool to track dynamic memory, identify unreleased tracked blocks, and generate a clear report for debugging.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" y="4681728"/>
            <a:ext cx="5010912" cy="0"/>
          </a:xfrm>
          <a:prstGeom prst="line">
            <a:avLst/>
          </a:prstGeom>
          <a:noFill/>
          <a:ln w="13970">
            <a:solidFill>
              <a:srgbClr val="293951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49808" y="495604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72941"/>
          </a:solidFill>
          <a:ln w="10160">
            <a:solidFill>
              <a:srgbClr val="172941">
                <a:alpha val="0"/>
              </a:srgbClr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392" y="5056632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53312" y="4956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 University  |  CSE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353312" y="52303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7B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by Dr. K. Anusha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49808" y="551383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9F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by: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F9F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2520030034 - P.PRATHIK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F9F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2520030188- U.PRANEETH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F9F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2520030573- M. HARSHITH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812280" y="1481328"/>
            <a:ext cx="4617720" cy="4443984"/>
          </a:xfrm>
          <a:prstGeom prst="roundRect">
            <a:avLst>
              <a:gd name="adj" fmla="val 2469"/>
            </a:avLst>
          </a:prstGeom>
          <a:solidFill>
            <a:srgbClr val="121F35"/>
          </a:solidFill>
          <a:ln w="10160">
            <a:solidFill>
              <a:srgbClr val="2B3A5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50608" y="1792224"/>
            <a:ext cx="1572768" cy="310896"/>
          </a:xfrm>
          <a:prstGeom prst="roundRect">
            <a:avLst>
              <a:gd name="adj" fmla="val 35294"/>
            </a:avLst>
          </a:prstGeom>
          <a:solidFill>
            <a:srgbClr val="1B3B48"/>
          </a:solidFill>
          <a:ln w="10160">
            <a:solidFill>
              <a:srgbClr val="1B3B48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42048" y="1805940"/>
            <a:ext cx="1389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spc="20" kern="0" dirty="0">
                <a:solidFill>
                  <a:srgbClr val="41E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TRACKER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7168896" y="22677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Allocation registry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168896" y="25694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CAF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 •  Compare  •  Report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168896" y="3044952"/>
            <a:ext cx="649224" cy="685800"/>
          </a:xfrm>
          <a:prstGeom prst="roundRect">
            <a:avLst>
              <a:gd name="adj" fmla="val 16901"/>
            </a:avLst>
          </a:prstGeom>
          <a:solidFill>
            <a:srgbClr val="1A2B43"/>
          </a:solidFill>
          <a:ln w="10160">
            <a:solidFill>
              <a:srgbClr val="41E2D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168896" y="3154680"/>
            <a:ext cx="649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1E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168896" y="3410712"/>
            <a:ext cx="649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0D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964424" y="3044952"/>
            <a:ext cx="649224" cy="685800"/>
          </a:xfrm>
          <a:prstGeom prst="roundRect">
            <a:avLst>
              <a:gd name="adj" fmla="val 16901"/>
            </a:avLst>
          </a:prstGeom>
          <a:solidFill>
            <a:srgbClr val="1A2B43"/>
          </a:solidFill>
          <a:ln w="10160">
            <a:solidFill>
              <a:srgbClr val="5A95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964424" y="3154680"/>
            <a:ext cx="649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9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964424" y="3410712"/>
            <a:ext cx="649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0D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8759952" y="3044952"/>
            <a:ext cx="649224" cy="685800"/>
          </a:xfrm>
          <a:prstGeom prst="roundRect">
            <a:avLst>
              <a:gd name="adj" fmla="val 16901"/>
            </a:avLst>
          </a:prstGeom>
          <a:solidFill>
            <a:srgbClr val="1A2B43"/>
          </a:solidFill>
          <a:ln w="10160">
            <a:solidFill>
              <a:srgbClr val="9E7B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759952" y="3154680"/>
            <a:ext cx="649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7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A3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759952" y="3410712"/>
            <a:ext cx="649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0D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555480" y="3044952"/>
            <a:ext cx="649224" cy="685800"/>
          </a:xfrm>
          <a:prstGeom prst="roundRect">
            <a:avLst>
              <a:gd name="adj" fmla="val 16901"/>
            </a:avLst>
          </a:prstGeom>
          <a:solidFill>
            <a:srgbClr val="1A2B43"/>
          </a:solidFill>
          <a:ln w="10160">
            <a:solidFill>
              <a:srgbClr val="F9B95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555480" y="3154680"/>
            <a:ext cx="649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B9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9555480" y="3410712"/>
            <a:ext cx="649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0D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10351008" y="3044952"/>
            <a:ext cx="649224" cy="685800"/>
          </a:xfrm>
          <a:prstGeom prst="roundRect">
            <a:avLst>
              <a:gd name="adj" fmla="val 16901"/>
            </a:avLst>
          </a:prstGeom>
          <a:solidFill>
            <a:srgbClr val="1A2B43"/>
          </a:solidFill>
          <a:ln w="10160">
            <a:solidFill>
              <a:srgbClr val="F56E8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351008" y="3154680"/>
            <a:ext cx="649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6E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A5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351008" y="3410712"/>
            <a:ext cx="649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0D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7388352" y="3995928"/>
            <a:ext cx="3346704" cy="0"/>
          </a:xfrm>
          <a:prstGeom prst="line">
            <a:avLst/>
          </a:prstGeom>
          <a:noFill/>
          <a:ln w="15240">
            <a:solidFill>
              <a:srgbClr val="526780"/>
            </a:solidFill>
            <a:prstDash val="solid"/>
            <a:headEnd type="none"/>
            <a:tailEnd type="none"/>
          </a:ln>
        </p:spPr>
      </p:sp>
      <p:sp>
        <p:nvSpPr>
          <p:cNvPr id="39" name="Shape 36"/>
          <p:cNvSpPr/>
          <p:nvPr/>
        </p:nvSpPr>
        <p:spPr>
          <a:xfrm>
            <a:off x="8065008" y="3886200"/>
            <a:ext cx="228600" cy="219456"/>
          </a:xfrm>
          <a:prstGeom prst="chevron">
            <a:avLst/>
          </a:prstGeom>
          <a:solidFill>
            <a:srgbClr val="526780"/>
          </a:solidFill>
          <a:ln w="12700">
            <a:solidFill>
              <a:srgbClr val="526780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622792" y="3886200"/>
            <a:ext cx="228600" cy="219456"/>
          </a:xfrm>
          <a:prstGeom prst="chevron">
            <a:avLst/>
          </a:prstGeom>
          <a:solidFill>
            <a:srgbClr val="526780"/>
          </a:solidFill>
          <a:ln w="12700">
            <a:solidFill>
              <a:srgbClr val="526780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180576" y="3886200"/>
            <a:ext cx="228600" cy="219456"/>
          </a:xfrm>
          <a:prstGeom prst="chevron">
            <a:avLst/>
          </a:prstGeom>
          <a:solidFill>
            <a:srgbClr val="526780"/>
          </a:solidFill>
          <a:ln w="12700">
            <a:solidFill>
              <a:srgbClr val="526780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738360" y="3886200"/>
            <a:ext cx="228600" cy="219456"/>
          </a:xfrm>
          <a:prstGeom prst="chevron">
            <a:avLst/>
          </a:prstGeom>
          <a:solidFill>
            <a:srgbClr val="526780"/>
          </a:solidFill>
          <a:ln w="12700">
            <a:solidFill>
              <a:srgbClr val="526780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168896" y="4361688"/>
            <a:ext cx="3877056" cy="1042416"/>
          </a:xfrm>
          <a:prstGeom prst="roundRect">
            <a:avLst>
              <a:gd name="adj" fmla="val 10526"/>
            </a:avLst>
          </a:prstGeom>
          <a:solidFill>
            <a:srgbClr val="1B2B43"/>
          </a:solidFill>
          <a:ln w="10160">
            <a:solidFill>
              <a:srgbClr val="29425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370064" y="4617720"/>
            <a:ext cx="484632" cy="484632"/>
          </a:xfrm>
          <a:prstGeom prst="roundRect">
            <a:avLst>
              <a:gd name="adj" fmla="val 22642"/>
            </a:avLst>
          </a:prstGeom>
          <a:solidFill>
            <a:srgbClr val="153A43"/>
          </a:solidFill>
          <a:ln w="10160">
            <a:solidFill>
              <a:srgbClr val="153A43">
                <a:alpha val="0"/>
              </a:srgbClr>
            </a:solidFill>
            <a:prstDash val="solid"/>
          </a:ln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3338" y="4714646"/>
            <a:ext cx="218084" cy="290779"/>
          </a:xfrm>
          <a:prstGeom prst="rect">
            <a:avLst/>
          </a:prstGeom>
        </p:spPr>
      </p:pic>
      <p:sp>
        <p:nvSpPr>
          <p:cNvPr id="46" name="Text 42"/>
          <p:cNvSpPr txBox="1"/>
          <p:nvPr/>
        </p:nvSpPr>
        <p:spPr>
          <a:xfrm>
            <a:off x="8046720" y="45537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REPORT</a:t>
            </a:r>
            <a:endParaRPr lang="en-US" sz="1150" dirty="0"/>
          </a:p>
        </p:txBody>
      </p:sp>
      <p:sp>
        <p:nvSpPr>
          <p:cNvPr id="47" name="Text 43"/>
          <p:cNvSpPr txBox="1"/>
          <p:nvPr/>
        </p:nvSpPr>
        <p:spPr>
          <a:xfrm>
            <a:off x="8046720" y="486460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9B9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Outstanding blocks  •  Total bytes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8659368" y="5513832"/>
            <a:ext cx="2231136" cy="283464"/>
          </a:xfrm>
          <a:prstGeom prst="roundRect">
            <a:avLst>
              <a:gd name="adj" fmla="val 38710"/>
            </a:avLst>
          </a:prstGeom>
          <a:solidFill>
            <a:srgbClr val="1C3D4A"/>
          </a:solidFill>
          <a:ln w="10160">
            <a:solidFill>
              <a:srgbClr val="1C3D4A">
                <a:alpha val="0"/>
              </a:srgbClr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8750808" y="5527548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20" kern="0" dirty="0">
                <a:solidFill>
                  <a:srgbClr val="41E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 →  EXPLAIN</a:t>
            </a:r>
            <a:endParaRPr lang="en-US" sz="900" dirty="0"/>
          </a:p>
        </p:txBody>
      </p:sp>
      <p:sp>
        <p:nvSpPr>
          <p:cNvPr id="50" name="Text 46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EAD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E2D4"/>
          </a:solidFill>
          <a:ln w="1270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Memory Leaks Matter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memory-management mistake can quietly consume resources as a program keeps running.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6072" y="1225296"/>
            <a:ext cx="530352" cy="41148"/>
          </a:xfrm>
          <a:prstGeom prst="rect">
            <a:avLst>
              <a:gd name="adj" fmla="val 266667"/>
            </a:avLst>
          </a:prstGeom>
          <a:solidFill>
            <a:srgbClr val="41E2D4"/>
          </a:solidFill>
          <a:ln w="1016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651967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491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DEBUGGING SYSTEM  •  HACKATHON 2026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517904"/>
            <a:ext cx="5230368" cy="4480560"/>
          </a:xfrm>
          <a:prstGeom prst="roundRect">
            <a:avLst>
              <a:gd name="adj" fmla="val 2449"/>
            </a:avLst>
          </a:prstGeom>
          <a:solidFill>
            <a:srgbClr val="0B1020"/>
          </a:solidFill>
          <a:ln w="1016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801368"/>
            <a:ext cx="1188720" cy="292608"/>
          </a:xfrm>
          <a:prstGeom prst="roundRect">
            <a:avLst>
              <a:gd name="adj" fmla="val 37500"/>
            </a:avLst>
          </a:prstGeom>
          <a:solidFill>
            <a:srgbClr val="22344C"/>
          </a:solidFill>
          <a:ln w="10160">
            <a:solidFill>
              <a:srgbClr val="22344C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" y="1815084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20" kern="0" dirty="0">
                <a:solidFill>
                  <a:srgbClr val="41E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2240280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Allocated memory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needs an owner.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3182112"/>
            <a:ext cx="4315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program loses track of a block or forgets to release it, that memory can remain reserved.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7824" y="4270248"/>
            <a:ext cx="1207008" cy="621792"/>
          </a:xfrm>
          <a:prstGeom prst="roundRect">
            <a:avLst>
              <a:gd name="adj" fmla="val 17647"/>
            </a:avLst>
          </a:prstGeom>
          <a:solidFill>
            <a:srgbClr val="1A3D47"/>
          </a:solidFill>
          <a:ln w="10160">
            <a:solidFill>
              <a:srgbClr val="2E68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379976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214B55"/>
          </a:solidFill>
          <a:ln w="10160">
            <a:solidFill>
              <a:srgbClr val="214B55">
                <a:alpha val="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0587" y="4471822"/>
            <a:ext cx="204826" cy="182067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380744" y="437997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240280" y="4434840"/>
            <a:ext cx="292608" cy="265176"/>
          </a:xfrm>
          <a:prstGeom prst="chevron">
            <a:avLst/>
          </a:prstGeom>
          <a:solidFill>
            <a:srgbClr val="596C85"/>
          </a:solidFill>
          <a:ln w="12700">
            <a:solidFill>
              <a:srgbClr val="596C85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633472" y="4270248"/>
            <a:ext cx="1216152" cy="621792"/>
          </a:xfrm>
          <a:prstGeom prst="roundRect">
            <a:avLst>
              <a:gd name="adj" fmla="val 17647"/>
            </a:avLst>
          </a:prstGeom>
          <a:solidFill>
            <a:srgbClr val="3D293B"/>
          </a:solidFill>
          <a:ln w="10160">
            <a:solidFill>
              <a:srgbClr val="6C3D5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24912" y="4379976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593344"/>
          </a:solidFill>
          <a:ln w="10160">
            <a:solidFill>
              <a:srgbClr val="593344">
                <a:alpha val="0"/>
              </a:srgbClr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5379" y="4460443"/>
            <a:ext cx="204826" cy="20482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136392" y="43799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freed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023360" y="4434840"/>
            <a:ext cx="292608" cy="265176"/>
          </a:xfrm>
          <a:prstGeom prst="chevron">
            <a:avLst/>
          </a:prstGeom>
          <a:solidFill>
            <a:srgbClr val="596C85"/>
          </a:solidFill>
          <a:ln w="12700">
            <a:solidFill>
              <a:srgbClr val="596C85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398264" y="4270248"/>
            <a:ext cx="1051560" cy="621792"/>
          </a:xfrm>
          <a:prstGeom prst="roundRect">
            <a:avLst>
              <a:gd name="adj" fmla="val 17647"/>
            </a:avLst>
          </a:prstGeom>
          <a:solidFill>
            <a:srgbClr val="473622"/>
          </a:solidFill>
          <a:ln w="10160">
            <a:solidFill>
              <a:srgbClr val="806137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398264" y="444398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B9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 risk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617220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CAN GO WRONG?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153912" y="1984248"/>
            <a:ext cx="5413248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373368" y="214884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F2FF"/>
          </a:solidFill>
          <a:ln w="10160">
            <a:solidFill>
              <a:srgbClr val="EAF2FF">
                <a:alpha val="0"/>
              </a:srgbClr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3952" y="2249424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004304" y="210312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memory consumption</a:t>
            </a:r>
            <a:endParaRPr lang="en-US" sz="1350" dirty="0"/>
          </a:p>
        </p:txBody>
      </p:sp>
      <p:sp>
        <p:nvSpPr>
          <p:cNvPr id="31" name="Text 26"/>
          <p:cNvSpPr txBox="1"/>
          <p:nvPr/>
        </p:nvSpPr>
        <p:spPr>
          <a:xfrm>
            <a:off x="7004304" y="2386584"/>
            <a:ext cx="4160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Unused blocks accumulate over time.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153912" y="2980944"/>
            <a:ext cx="5413248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373368" y="31455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F4E5"/>
          </a:solidFill>
          <a:ln w="10160">
            <a:solidFill>
              <a:srgbClr val="FFF4E5">
                <a:alpha val="0"/>
              </a:srgbClr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3952" y="3246120"/>
            <a:ext cx="256032" cy="256032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7004304" y="309981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pressure</a:t>
            </a:r>
            <a:endParaRPr lang="en-US" sz="1350" dirty="0"/>
          </a:p>
        </p:txBody>
      </p:sp>
      <p:sp>
        <p:nvSpPr>
          <p:cNvPr id="36" name="Text 30"/>
          <p:cNvSpPr txBox="1"/>
          <p:nvPr/>
        </p:nvSpPr>
        <p:spPr>
          <a:xfrm>
            <a:off x="7004304" y="3383280"/>
            <a:ext cx="4160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available memory can affect stability.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6153912" y="3977640"/>
            <a:ext cx="5413248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373368" y="414223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2EDFF"/>
          </a:solidFill>
          <a:ln w="10160">
            <a:solidFill>
              <a:srgbClr val="F2EDFF">
                <a:alpha val="0"/>
              </a:srgbClr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3952" y="4242816"/>
            <a:ext cx="256032" cy="256032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7004304" y="409651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Harder debugging</a:t>
            </a:r>
            <a:endParaRPr lang="en-US" sz="1350" dirty="0"/>
          </a:p>
        </p:txBody>
      </p:sp>
      <p:sp>
        <p:nvSpPr>
          <p:cNvPr id="41" name="Text 34"/>
          <p:cNvSpPr txBox="1"/>
          <p:nvPr/>
        </p:nvSpPr>
        <p:spPr>
          <a:xfrm>
            <a:off x="7004304" y="4379976"/>
            <a:ext cx="4160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of a leak may be difficult to locate.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6153912" y="5138928"/>
            <a:ext cx="5413248" cy="685800"/>
          </a:xfrm>
          <a:prstGeom prst="roundRect">
            <a:avLst>
              <a:gd name="adj" fmla="val 16000"/>
            </a:avLst>
          </a:prstGeom>
          <a:solidFill>
            <a:srgbClr val="E7FBF8"/>
          </a:solidFill>
          <a:ln w="10160">
            <a:solidFill>
              <a:srgbClr val="E7FBF8">
                <a:alpha val="0"/>
              </a:srgbClr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6364224" y="5266944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D2F5EE"/>
          </a:solidFill>
          <a:ln w="10160">
            <a:solidFill>
              <a:srgbClr val="D2F5EE">
                <a:alpha val="0"/>
              </a:srgbClr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4866" y="5347411"/>
            <a:ext cx="181051" cy="241402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6922008" y="52303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8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goal</a:t>
            </a:r>
            <a:endParaRPr lang="en-US" sz="1100" dirty="0"/>
          </a:p>
        </p:txBody>
      </p:sp>
      <p:sp>
        <p:nvSpPr>
          <p:cNvPr id="46" name="Text 38"/>
          <p:cNvSpPr txBox="1"/>
          <p:nvPr/>
        </p:nvSpPr>
        <p:spPr>
          <a:xfrm>
            <a:off x="6922008" y="5468112"/>
            <a:ext cx="4279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allocations, find unreleased tracked blocks, and report them clearly.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E2D4"/>
          </a:solidFill>
          <a:ln w="1270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Goal: Make Memory State Visible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lightweight tracking layer turns memory operations into a report developers can inspect.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6072" y="1225296"/>
            <a:ext cx="530352" cy="41148"/>
          </a:xfrm>
          <a:prstGeom prst="rect">
            <a:avLst>
              <a:gd name="adj" fmla="val 266667"/>
            </a:avLst>
          </a:prstGeom>
          <a:solidFill>
            <a:srgbClr val="41E2D4"/>
          </a:solidFill>
          <a:ln w="1016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651967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491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DEBUGGING SYSTEM  •  HACKATHON 2026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508760"/>
            <a:ext cx="3730752" cy="451713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792224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E7FBF8"/>
          </a:solidFill>
          <a:ln w="10160">
            <a:solidFill>
              <a:srgbClr val="E7FBF8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639" y="1898294"/>
            <a:ext cx="278435" cy="31821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554480" y="18379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96112" y="2615184"/>
            <a:ext cx="201168" cy="201168"/>
          </a:xfrm>
          <a:prstGeom prst="ellipse">
            <a:avLst/>
          </a:prstGeom>
          <a:solidFill>
            <a:srgbClr val="BFEFE7"/>
          </a:solidFill>
          <a:ln w="12700">
            <a:solidFill>
              <a:srgbClr val="BFEFE7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8116" y="2647188"/>
            <a:ext cx="137160" cy="1371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52728" y="25603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tracked allocations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96112" y="3090672"/>
            <a:ext cx="201168" cy="201168"/>
          </a:xfrm>
          <a:prstGeom prst="ellipse">
            <a:avLst/>
          </a:prstGeom>
          <a:solidFill>
            <a:srgbClr val="BFEFE7"/>
          </a:solidFill>
          <a:ln w="12700">
            <a:solidFill>
              <a:srgbClr val="BFEFE7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8116" y="3122676"/>
            <a:ext cx="137160" cy="1371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52728" y="30358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release operations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6112" y="3566160"/>
            <a:ext cx="201168" cy="201168"/>
          </a:xfrm>
          <a:prstGeom prst="ellipse">
            <a:avLst/>
          </a:prstGeom>
          <a:solidFill>
            <a:srgbClr val="BFEFE7"/>
          </a:solidFill>
          <a:ln w="12700">
            <a:solidFill>
              <a:srgbClr val="BFEFE7">
                <a:alpha val="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8116" y="3598164"/>
            <a:ext cx="137160" cy="1371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52728" y="351129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remaining blocks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896112" y="4041648"/>
            <a:ext cx="201168" cy="201168"/>
          </a:xfrm>
          <a:prstGeom prst="ellipse">
            <a:avLst/>
          </a:prstGeom>
          <a:solidFill>
            <a:srgbClr val="BFEFE7"/>
          </a:solidFill>
          <a:ln w="12700">
            <a:solidFill>
              <a:srgbClr val="BFEFE7">
                <a:alpha val="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8116" y="4073652"/>
            <a:ext cx="137160" cy="13716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52728" y="398678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block count and bytes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96112" y="4517136"/>
            <a:ext cx="201168" cy="201168"/>
          </a:xfrm>
          <a:prstGeom prst="ellipse">
            <a:avLst/>
          </a:prstGeom>
          <a:solidFill>
            <a:srgbClr val="BFEFE7"/>
          </a:solidFill>
          <a:ln w="12700">
            <a:solidFill>
              <a:srgbClr val="BFEFE7">
                <a:alpha val="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8116" y="4549140"/>
            <a:ext cx="137160" cy="1371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252728" y="446227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a readable report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896112" y="4992624"/>
            <a:ext cx="201168" cy="201168"/>
          </a:xfrm>
          <a:prstGeom prst="ellipse">
            <a:avLst/>
          </a:prstGeom>
          <a:solidFill>
            <a:srgbClr val="BFEFE7"/>
          </a:solidFill>
          <a:ln w="12700">
            <a:solidFill>
              <a:srgbClr val="BFEFE7">
                <a:alpha val="0"/>
              </a:srgbClr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8116" y="5024628"/>
            <a:ext cx="137160" cy="1371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252728" y="49377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 with Linux Debugging System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4782312" y="1627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WORKFLOW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4782312" y="210312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4919472" y="2249424"/>
            <a:ext cx="484632" cy="457200"/>
          </a:xfrm>
          <a:prstGeom prst="roundRect">
            <a:avLst>
              <a:gd name="adj" fmla="val 24000"/>
            </a:avLst>
          </a:prstGeom>
          <a:solidFill>
            <a:srgbClr val="E7FBF8"/>
          </a:solidFill>
          <a:ln w="10160">
            <a:solidFill>
              <a:srgbClr val="E7FBF8">
                <a:alpha val="0"/>
              </a:srgbClr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4919472" y="2359152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1E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5532120" y="224028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allocation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5532120" y="2523744"/>
            <a:ext cx="18470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malloc / calloc wrappers</a:t>
            </a:r>
            <a:endParaRPr lang="en-US" sz="950" dirty="0"/>
          </a:p>
        </p:txBody>
      </p:sp>
      <p:sp>
        <p:nvSpPr>
          <p:cNvPr id="37" name="Shape 28"/>
          <p:cNvSpPr/>
          <p:nvPr/>
        </p:nvSpPr>
        <p:spPr>
          <a:xfrm>
            <a:off x="8074152" y="2103120"/>
            <a:ext cx="3255264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8211312" y="2249424"/>
            <a:ext cx="484632" cy="457200"/>
          </a:xfrm>
          <a:prstGeom prst="roundRect">
            <a:avLst>
              <a:gd name="adj" fmla="val 24000"/>
            </a:avLst>
          </a:prstGeom>
          <a:solidFill>
            <a:srgbClr val="EAF2FF"/>
          </a:solidFill>
          <a:ln w="1016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8211312" y="2359152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9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8823960" y="2240280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release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8823960" y="2523744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calls through tracker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8074152" y="3429000"/>
            <a:ext cx="3255264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8211312" y="3575304"/>
            <a:ext cx="484632" cy="457200"/>
          </a:xfrm>
          <a:prstGeom prst="roundRect">
            <a:avLst>
              <a:gd name="adj" fmla="val 24000"/>
            </a:avLst>
          </a:prstGeom>
          <a:solidFill>
            <a:srgbClr val="F2EDFF"/>
          </a:solidFill>
          <a:ln w="10160">
            <a:solidFill>
              <a:srgbClr val="F2EDFF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8211312" y="3685032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7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8823960" y="3566160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records</a:t>
            </a:r>
            <a:endParaRPr lang="en-US" sz="1300" dirty="0"/>
          </a:p>
        </p:txBody>
      </p:sp>
      <p:sp>
        <p:nvSpPr>
          <p:cNvPr id="46" name="Text 37"/>
          <p:cNvSpPr txBox="1"/>
          <p:nvPr/>
        </p:nvSpPr>
        <p:spPr>
          <a:xfrm>
            <a:off x="8823960" y="3849624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blocks still outstanding</a:t>
            </a:r>
            <a:endParaRPr lang="en-US" sz="950" dirty="0"/>
          </a:p>
        </p:txBody>
      </p:sp>
      <p:sp>
        <p:nvSpPr>
          <p:cNvPr id="47" name="Shape 38"/>
          <p:cNvSpPr/>
          <p:nvPr/>
        </p:nvSpPr>
        <p:spPr>
          <a:xfrm>
            <a:off x="4782312" y="342900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4919472" y="3575304"/>
            <a:ext cx="484632" cy="457200"/>
          </a:xfrm>
          <a:prstGeom prst="roundRect">
            <a:avLst>
              <a:gd name="adj" fmla="val 24000"/>
            </a:avLst>
          </a:prstGeom>
          <a:solidFill>
            <a:srgbClr val="FFF4E5"/>
          </a:solidFill>
          <a:ln w="10160">
            <a:solidFill>
              <a:srgbClr val="FFF4E5">
                <a:alpha val="0"/>
              </a:srgbClr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4919472" y="3685032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B9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50" name="Text 41"/>
          <p:cNvSpPr txBox="1"/>
          <p:nvPr/>
        </p:nvSpPr>
        <p:spPr>
          <a:xfrm>
            <a:off x="5532120" y="356616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report</a:t>
            </a:r>
            <a:endParaRPr lang="en-US" sz="1300" dirty="0"/>
          </a:p>
        </p:txBody>
      </p:sp>
      <p:sp>
        <p:nvSpPr>
          <p:cNvPr id="51" name="Text 42"/>
          <p:cNvSpPr txBox="1"/>
          <p:nvPr/>
        </p:nvSpPr>
        <p:spPr>
          <a:xfrm>
            <a:off x="5532120" y="3849624"/>
            <a:ext cx="18470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 blocks + bytes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7644384" y="2331720"/>
            <a:ext cx="283464" cy="256032"/>
          </a:xfrm>
          <a:prstGeom prst="chevron">
            <a:avLst/>
          </a:prstGeom>
          <a:solidFill>
            <a:srgbClr val="A8B8CC"/>
          </a:solidFill>
          <a:ln w="12700">
            <a:solidFill>
              <a:srgbClr val="A8B8CC">
                <a:alpha val="0"/>
              </a:srgbClr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9326880" y="2907792"/>
            <a:ext cx="310896" cy="393192"/>
          </a:xfrm>
          <a:prstGeom prst="downArrow">
            <a:avLst/>
          </a:prstGeom>
          <a:solidFill>
            <a:srgbClr val="A8B8CC"/>
          </a:solidFill>
          <a:ln w="12700">
            <a:solidFill>
              <a:srgbClr val="A8B8CC">
                <a:alpha val="0"/>
              </a:srgbClr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 rot="10800000">
            <a:off x="7635240" y="3675888"/>
            <a:ext cx="283464" cy="256032"/>
          </a:xfrm>
          <a:prstGeom prst="chevron">
            <a:avLst/>
          </a:prstGeom>
          <a:solidFill>
            <a:srgbClr val="A8B8CC"/>
          </a:solidFill>
          <a:ln w="12700">
            <a:solidFill>
              <a:srgbClr val="A8B8CC">
                <a:alpha val="0"/>
              </a:srgbClr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4782312" y="4754880"/>
            <a:ext cx="6547104" cy="932688"/>
          </a:xfrm>
          <a:prstGeom prst="roundRect">
            <a:avLst>
              <a:gd name="adj" fmla="val 11765"/>
            </a:avLst>
          </a:prstGeom>
          <a:solidFill>
            <a:srgbClr val="0B1020"/>
          </a:solidFill>
          <a:ln w="1016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5029200" y="496519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A3448"/>
          </a:solidFill>
          <a:ln w="10160">
            <a:solidFill>
              <a:srgbClr val="1A3448">
                <a:alpha val="0"/>
              </a:srgbClr>
            </a:solidFill>
            <a:prstDash val="solid"/>
          </a:ln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33807" y="5069799"/>
            <a:ext cx="266273" cy="266273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5669280" y="4901184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scope = trustworthy results</a:t>
            </a:r>
            <a:endParaRPr lang="en-US" sz="1300" dirty="0"/>
          </a:p>
        </p:txBody>
      </p:sp>
      <p:sp>
        <p:nvSpPr>
          <p:cNvPr id="59" name="Text 49"/>
          <p:cNvSpPr txBox="1"/>
          <p:nvPr/>
        </p:nvSpPr>
        <p:spPr>
          <a:xfrm>
            <a:off x="5669280" y="5193792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C0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baseline detects allocations routed through our tracking API. Arbitrary uninstrumented programs need additional instrumentation or a dedicated memory-analysis tool.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E2D4"/>
          </a:solidFill>
          <a:ln w="1270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Features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practical capabilities make the tool useful during a live debugging demonstration.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6072" y="1225296"/>
            <a:ext cx="530352" cy="41148"/>
          </a:xfrm>
          <a:prstGeom prst="rect">
            <a:avLst>
              <a:gd name="adj" fmla="val 266667"/>
            </a:avLst>
          </a:prstGeom>
          <a:solidFill>
            <a:srgbClr val="41E2D4"/>
          </a:solidFill>
          <a:ln w="1016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651967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491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DEBUGGING SYSTEM  •  HACKATHON 2026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554480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554480"/>
            <a:ext cx="64008" cy="1600200"/>
          </a:xfrm>
          <a:prstGeom prst="rect">
            <a:avLst>
              <a:gd name="adj" fmla="val 171429"/>
            </a:avLst>
          </a:prstGeom>
          <a:solidFill>
            <a:srgbClr val="41E2D4"/>
          </a:solidFill>
          <a:ln w="1016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" y="1773936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E7FBF8"/>
          </a:solidFill>
          <a:ln w="10160">
            <a:solidFill>
              <a:srgbClr val="E7FBF8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4159" y="1897929"/>
            <a:ext cx="276515" cy="245791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435608" y="1783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Allocation tracking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" y="2386584"/>
            <a:ext cx="3108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pointer and size for allocations that pass through tracked malloc / calloc wrappers.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79392" y="1554480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79392" y="1554480"/>
            <a:ext cx="64008" cy="1600200"/>
          </a:xfrm>
          <a:prstGeom prst="rect">
            <a:avLst>
              <a:gd name="adj" fmla="val 171429"/>
            </a:avLst>
          </a:prstGeom>
          <a:solidFill>
            <a:srgbClr val="5A95FF"/>
          </a:solidFill>
          <a:ln w="10160">
            <a:solidFill>
              <a:srgbClr val="5A95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07992" y="1773936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EAF2FF"/>
          </a:solidFill>
          <a:ln w="10160">
            <a:solidFill>
              <a:srgbClr val="EAF2FF">
                <a:alpha val="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6623" y="1882567"/>
            <a:ext cx="276515" cy="27651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148072" y="1783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Release tracking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517136" y="2386584"/>
            <a:ext cx="3108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tracked blocks as released when the program uses the tracked free operation.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991856" y="1554480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991856" y="1554480"/>
            <a:ext cx="64008" cy="1600200"/>
          </a:xfrm>
          <a:prstGeom prst="rect">
            <a:avLst>
              <a:gd name="adj" fmla="val 171429"/>
            </a:avLst>
          </a:prstGeom>
          <a:solidFill>
            <a:srgbClr val="9E7BFF"/>
          </a:solidFill>
          <a:ln w="10160">
            <a:solidFill>
              <a:srgbClr val="9E7BF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220456" y="1773936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F2EDFF"/>
          </a:solidFill>
          <a:ln w="10160">
            <a:solidFill>
              <a:srgbClr val="F2EDFF">
                <a:alpha val="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9087" y="1882567"/>
            <a:ext cx="276515" cy="27651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860536" y="1783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Leak identification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8229600" y="2386584"/>
            <a:ext cx="3108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registry entries that remain allocated when the report is requested.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66928" y="3465576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66928" y="3465576"/>
            <a:ext cx="64008" cy="1600200"/>
          </a:xfrm>
          <a:prstGeom prst="rect">
            <a:avLst>
              <a:gd name="adj" fmla="val 171429"/>
            </a:avLst>
          </a:prstGeom>
          <a:solidFill>
            <a:srgbClr val="F9B95E"/>
          </a:solidFill>
          <a:ln w="10160">
            <a:solidFill>
              <a:srgbClr val="F9B95E">
                <a:alpha val="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95528" y="3685032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FFF4E5"/>
          </a:solidFill>
          <a:ln w="10160">
            <a:solidFill>
              <a:srgbClr val="FFF4E5">
                <a:alpha val="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4159" y="3793663"/>
            <a:ext cx="276515" cy="27651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435608" y="36941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Byte calculation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804672" y="4297680"/>
            <a:ext cx="3108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the number of outstanding blocks and their combined size in bytes.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4279392" y="3465576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279392" y="3465576"/>
            <a:ext cx="64008" cy="1600200"/>
          </a:xfrm>
          <a:prstGeom prst="rect">
            <a:avLst>
              <a:gd name="adj" fmla="val 171429"/>
            </a:avLst>
          </a:prstGeom>
          <a:solidFill>
            <a:srgbClr val="F56E85"/>
          </a:solidFill>
          <a:ln w="10160">
            <a:solidFill>
              <a:srgbClr val="F56E85">
                <a:alpha val="0"/>
              </a:srgbClr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507992" y="3685032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FFF0F2"/>
          </a:solidFill>
          <a:ln w="10160">
            <a:solidFill>
              <a:srgbClr val="FFF0F2">
                <a:alpha val="0"/>
              </a:srgbClr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3780" y="3783787"/>
            <a:ext cx="222199" cy="296266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5148072" y="36941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Report generation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4517136" y="4297680"/>
            <a:ext cx="3108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 a readable console summary and save results to a text report file.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7991856" y="3465576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7991856" y="3465576"/>
            <a:ext cx="64008" cy="1600200"/>
          </a:xfrm>
          <a:prstGeom prst="rect">
            <a:avLst>
              <a:gd name="adj" fmla="val 171429"/>
            </a:avLst>
          </a:prstGeom>
          <a:solidFill>
            <a:srgbClr val="31D6A5"/>
          </a:solidFill>
          <a:ln w="10160">
            <a:solidFill>
              <a:srgbClr val="31D6A5">
                <a:alpha val="0"/>
              </a:srgbClr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220456" y="3685032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E8FBF3"/>
          </a:solidFill>
          <a:ln w="10160">
            <a:solidFill>
              <a:srgbClr val="E8FBF3">
                <a:alpha val="0"/>
              </a:srgbClr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29087" y="3809025"/>
            <a:ext cx="276515" cy="245791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8860536" y="36941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Linux integration</a:t>
            </a:r>
            <a:endParaRPr lang="en-US" sz="1300" dirty="0"/>
          </a:p>
        </p:txBody>
      </p:sp>
      <p:sp>
        <p:nvSpPr>
          <p:cNvPr id="44" name="Text 36"/>
          <p:cNvSpPr txBox="1"/>
          <p:nvPr/>
        </p:nvSpPr>
        <p:spPr>
          <a:xfrm>
            <a:off x="8229600" y="4297680"/>
            <a:ext cx="3108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the detector from the Linux Debugging System command-line workflow.</a:t>
            </a:r>
            <a:endParaRPr lang="en-US" sz="1050" dirty="0"/>
          </a:p>
        </p:txBody>
      </p:sp>
      <p:sp>
        <p:nvSpPr>
          <p:cNvPr id="45" name="Shape 37"/>
          <p:cNvSpPr/>
          <p:nvPr/>
        </p:nvSpPr>
        <p:spPr>
          <a:xfrm>
            <a:off x="566928" y="5458968"/>
            <a:ext cx="11036808" cy="475488"/>
          </a:xfrm>
          <a:prstGeom prst="roundRect">
            <a:avLst>
              <a:gd name="adj" fmla="val 23077"/>
            </a:avLst>
          </a:prstGeom>
          <a:solidFill>
            <a:srgbClr val="0B1020"/>
          </a:solidFill>
          <a:ln w="1016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804672" y="5596128"/>
            <a:ext cx="1444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70" kern="0" dirty="0">
                <a:solidFill>
                  <a:srgbClr val="41E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NOTE</a:t>
            </a:r>
            <a:endParaRPr lang="en-US" sz="870" dirty="0"/>
          </a:p>
        </p:txBody>
      </p:sp>
      <p:sp>
        <p:nvSpPr>
          <p:cNvPr id="47" name="Text 39"/>
          <p:cNvSpPr txBox="1"/>
          <p:nvPr/>
        </p:nvSpPr>
        <p:spPr>
          <a:xfrm>
            <a:off x="2395728" y="5559552"/>
            <a:ext cx="8723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operations routed through the tracker are counted in the baseline version.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E2D4"/>
          </a:solidFill>
          <a:ln w="1270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3931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60" kern="0" dirty="0">
                <a:solidFill>
                  <a:srgbClr val="41E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DESIGN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7406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memory operations to a report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5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simple, auditable pipeline built around a tracked allocation registry.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7D8D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DEBUGGING SYSTEM  •  HACKATHON 2026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AB7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1965960"/>
            <a:ext cx="10863072" cy="2029968"/>
          </a:xfrm>
          <a:prstGeom prst="roundRect">
            <a:avLst>
              <a:gd name="adj" fmla="val 5405"/>
            </a:avLst>
          </a:prstGeom>
          <a:solidFill>
            <a:srgbClr val="111E33"/>
          </a:solidFill>
          <a:ln w="10160">
            <a:solidFill>
              <a:srgbClr val="283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2231136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1A2A43"/>
          </a:solidFill>
          <a:ln w="10160">
            <a:solidFill>
              <a:srgbClr val="1A2A43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1429" y="2364313"/>
            <a:ext cx="296997" cy="26399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14400" y="28529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program</a:t>
            </a:r>
            <a:endParaRPr lang="en-US" sz="1220" dirty="0"/>
          </a:p>
        </p:txBody>
      </p:sp>
      <p:sp>
        <p:nvSpPr>
          <p:cNvPr id="13" name="Text 10"/>
          <p:cNvSpPr txBox="1"/>
          <p:nvPr/>
        </p:nvSpPr>
        <p:spPr>
          <a:xfrm>
            <a:off x="950976" y="3182112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 memory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2715768" y="2770632"/>
            <a:ext cx="210312" cy="310896"/>
          </a:xfrm>
          <a:prstGeom prst="chevron">
            <a:avLst/>
          </a:prstGeom>
          <a:solidFill>
            <a:srgbClr val="526882"/>
          </a:solidFill>
          <a:ln w="12700">
            <a:solidFill>
              <a:srgbClr val="526882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11296" y="2231136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1A2A43"/>
          </a:solidFill>
          <a:ln w="10160">
            <a:solidFill>
              <a:srgbClr val="1A2A43">
                <a:alpha val="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27973" y="2377513"/>
            <a:ext cx="296997" cy="23759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980944" y="28529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Tracked API</a:t>
            </a:r>
            <a:endParaRPr lang="en-US" sz="1220" dirty="0"/>
          </a:p>
        </p:txBody>
      </p:sp>
      <p:sp>
        <p:nvSpPr>
          <p:cNvPr id="18" name="Text 14"/>
          <p:cNvSpPr txBox="1"/>
          <p:nvPr/>
        </p:nvSpPr>
        <p:spPr>
          <a:xfrm>
            <a:off x="3017520" y="318211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malloc / free wrappers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4965192" y="2770632"/>
            <a:ext cx="210312" cy="310896"/>
          </a:xfrm>
          <a:prstGeom prst="chevron">
            <a:avLst/>
          </a:prstGeom>
          <a:solidFill>
            <a:srgbClr val="526882"/>
          </a:solidFill>
          <a:ln w="12700">
            <a:solidFill>
              <a:srgbClr val="526882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769864" y="2231136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1A2A43"/>
          </a:solidFill>
          <a:ln w="10160">
            <a:solidFill>
              <a:srgbClr val="1A2A43">
                <a:alpha val="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95823" y="2337206"/>
            <a:ext cx="278435" cy="31821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239512" y="2852928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registry</a:t>
            </a:r>
            <a:endParaRPr lang="en-US" sz="1220" dirty="0"/>
          </a:p>
        </p:txBody>
      </p:sp>
      <p:sp>
        <p:nvSpPr>
          <p:cNvPr id="23" name="Text 18"/>
          <p:cNvSpPr txBox="1"/>
          <p:nvPr/>
        </p:nvSpPr>
        <p:spPr>
          <a:xfrm>
            <a:off x="5276088" y="3182112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Pointer + size + state</a:t>
            </a:r>
            <a:endParaRPr lang="en-US" sz="920" dirty="0"/>
          </a:p>
        </p:txBody>
      </p:sp>
      <p:sp>
        <p:nvSpPr>
          <p:cNvPr id="24" name="Shape 19"/>
          <p:cNvSpPr/>
          <p:nvPr/>
        </p:nvSpPr>
        <p:spPr>
          <a:xfrm>
            <a:off x="7104888" y="2770632"/>
            <a:ext cx="210312" cy="310896"/>
          </a:xfrm>
          <a:prstGeom prst="chevron">
            <a:avLst/>
          </a:prstGeom>
          <a:solidFill>
            <a:srgbClr val="526882"/>
          </a:solidFill>
          <a:ln w="12700">
            <a:solidFill>
              <a:srgbClr val="526882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891272" y="2231136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1A2A43"/>
          </a:solidFill>
          <a:ln w="10160">
            <a:solidFill>
              <a:srgbClr val="1A2A43">
                <a:alpha val="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07949" y="2347813"/>
            <a:ext cx="296997" cy="29699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360920" y="285292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 checker</a:t>
            </a:r>
            <a:endParaRPr lang="en-US" sz="1220" dirty="0"/>
          </a:p>
        </p:txBody>
      </p:sp>
      <p:sp>
        <p:nvSpPr>
          <p:cNvPr id="28" name="Text 22"/>
          <p:cNvSpPr txBox="1"/>
          <p:nvPr/>
        </p:nvSpPr>
        <p:spPr>
          <a:xfrm>
            <a:off x="7397496" y="3182112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outstanding blocks</a:t>
            </a:r>
            <a:endParaRPr lang="en-US" sz="920" dirty="0"/>
          </a:p>
        </p:txBody>
      </p:sp>
      <p:sp>
        <p:nvSpPr>
          <p:cNvPr id="29" name="Shape 23"/>
          <p:cNvSpPr/>
          <p:nvPr/>
        </p:nvSpPr>
        <p:spPr>
          <a:xfrm>
            <a:off x="9070848" y="2770632"/>
            <a:ext cx="210312" cy="310896"/>
          </a:xfrm>
          <a:prstGeom prst="chevron">
            <a:avLst/>
          </a:prstGeom>
          <a:solidFill>
            <a:srgbClr val="526882"/>
          </a:solidFill>
          <a:ln w="12700">
            <a:solidFill>
              <a:srgbClr val="526882">
                <a:alpha val="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838944" y="2231136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1A2A43"/>
          </a:solidFill>
          <a:ln w="10160">
            <a:solidFill>
              <a:srgbClr val="1A2A43">
                <a:alpha val="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84791" y="2337206"/>
            <a:ext cx="238658" cy="318211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308592" y="2852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output</a:t>
            </a:r>
            <a:endParaRPr lang="en-US" sz="1220" dirty="0"/>
          </a:p>
        </p:txBody>
      </p:sp>
      <p:sp>
        <p:nvSpPr>
          <p:cNvPr id="33" name="Text 26"/>
          <p:cNvSpPr txBox="1"/>
          <p:nvPr/>
        </p:nvSpPr>
        <p:spPr>
          <a:xfrm>
            <a:off x="9345168" y="3182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Console + text file</a:t>
            </a:r>
            <a:endParaRPr lang="en-US" sz="920" dirty="0"/>
          </a:p>
        </p:txBody>
      </p:sp>
      <p:sp>
        <p:nvSpPr>
          <p:cNvPr id="34" name="Shape 27"/>
          <p:cNvSpPr/>
          <p:nvPr/>
        </p:nvSpPr>
        <p:spPr>
          <a:xfrm>
            <a:off x="676656" y="4389120"/>
            <a:ext cx="5065776" cy="1353312"/>
          </a:xfrm>
          <a:prstGeom prst="roundRect">
            <a:avLst>
              <a:gd name="adj" fmla="val 8108"/>
            </a:avLst>
          </a:prstGeom>
          <a:solidFill>
            <a:srgbClr val="14243B"/>
          </a:solidFill>
          <a:ln w="10160">
            <a:solidFill>
              <a:srgbClr val="2B3F5B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914400" y="46634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B3D49"/>
          </a:solidFill>
          <a:ln w="10160">
            <a:solidFill>
              <a:srgbClr val="1B3D49">
                <a:alpha val="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5042" y="4789729"/>
            <a:ext cx="281635" cy="25034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609344" y="45902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Debugging System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1609344" y="49011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9C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menu / command-line entry point for the memory detector.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6035040" y="4389120"/>
            <a:ext cx="5486400" cy="1353312"/>
          </a:xfrm>
          <a:prstGeom prst="roundRect">
            <a:avLst>
              <a:gd name="adj" fmla="val 8108"/>
            </a:avLst>
          </a:prstGeom>
          <a:solidFill>
            <a:srgbClr val="14243B"/>
          </a:solidFill>
          <a:ln w="10160">
            <a:solidFill>
              <a:srgbClr val="2B3F5B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6291072" y="46634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3E3431"/>
          </a:solidFill>
          <a:ln w="10160">
            <a:solidFill>
              <a:srgbClr val="3E3431">
                <a:alpha val="0"/>
              </a:srgbClr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01714" y="4774082"/>
            <a:ext cx="281635" cy="281635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6986016" y="459028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Safe, controlled testing</a:t>
            </a:r>
            <a:endParaRPr lang="en-US" sz="1400" dirty="0"/>
          </a:p>
        </p:txBody>
      </p:sp>
      <p:sp>
        <p:nvSpPr>
          <p:cNvPr id="43" name="Text 34"/>
          <p:cNvSpPr txBox="1"/>
          <p:nvPr/>
        </p:nvSpPr>
        <p:spPr>
          <a:xfrm>
            <a:off x="6986016" y="490118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9C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test programs you control. Avoid probing other users’ processes or interfering with system services.</a:t>
            </a:r>
            <a:endParaRPr lang="en-US" sz="1050" dirty="0"/>
          </a:p>
        </p:txBody>
      </p:sp>
      <p:sp>
        <p:nvSpPr>
          <p:cNvPr id="44" name="Text 35"/>
          <p:cNvSpPr txBox="1"/>
          <p:nvPr/>
        </p:nvSpPr>
        <p:spPr>
          <a:xfrm>
            <a:off x="713232" y="5989320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30" kern="0" dirty="0">
                <a:solidFill>
                  <a:srgbClr val="41E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  •  Observe only what the tracking layer can actually see.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E2D4"/>
          </a:solidFill>
          <a:ln w="1270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Stack &amp; Implementation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lightweight, Linux-native design built with tools that are easy to compile, inspect, and share.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6072" y="1225296"/>
            <a:ext cx="530352" cy="41148"/>
          </a:xfrm>
          <a:prstGeom prst="rect">
            <a:avLst>
              <a:gd name="adj" fmla="val 266667"/>
            </a:avLst>
          </a:prstGeom>
          <a:solidFill>
            <a:srgbClr val="41E2D4"/>
          </a:solidFill>
          <a:ln w="1016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651967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491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DEBUGGING SYSTEM  •  HACKATHON 2026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591056"/>
            <a:ext cx="1783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173736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E7FBF8"/>
          </a:solidFill>
          <a:ln w="10160">
            <a:solidFill>
              <a:srgbClr val="E7FBF8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4555" y="1838310"/>
            <a:ext cx="204826" cy="1638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61288" y="173736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programming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04088" y="2194560"/>
            <a:ext cx="1499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operations and tracking logic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2532888" y="1591056"/>
            <a:ext cx="1783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70048" y="173736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EAF2FF">
                <a:alpha val="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0515" y="1829206"/>
            <a:ext cx="204826" cy="18206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127248" y="173736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Ubuntu Linux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2670048" y="2194560"/>
            <a:ext cx="1499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and test environment</a:t>
            </a:r>
            <a:endParaRPr lang="en-US" sz="880" dirty="0"/>
          </a:p>
        </p:txBody>
      </p:sp>
      <p:sp>
        <p:nvSpPr>
          <p:cNvPr id="19" name="Shape 15"/>
          <p:cNvSpPr/>
          <p:nvPr/>
        </p:nvSpPr>
        <p:spPr>
          <a:xfrm>
            <a:off x="566928" y="2807208"/>
            <a:ext cx="1783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4088" y="295351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FF4E5"/>
          </a:solidFill>
          <a:ln w="10160">
            <a:solidFill>
              <a:srgbClr val="FFF4E5">
                <a:alpha val="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555" y="3033979"/>
            <a:ext cx="204826" cy="20482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161288" y="295351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GCC compiler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704088" y="3410712"/>
            <a:ext cx="1499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 with warnings and debug info</a:t>
            </a:r>
            <a:endParaRPr lang="en-US" sz="880" dirty="0"/>
          </a:p>
        </p:txBody>
      </p:sp>
      <p:sp>
        <p:nvSpPr>
          <p:cNvPr id="24" name="Shape 19"/>
          <p:cNvSpPr/>
          <p:nvPr/>
        </p:nvSpPr>
        <p:spPr>
          <a:xfrm>
            <a:off x="2532888" y="2807208"/>
            <a:ext cx="1783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2670048" y="295351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2EDFF"/>
          </a:solidFill>
          <a:ln w="10160">
            <a:solidFill>
              <a:srgbClr val="F2EDFF">
                <a:alpha val="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56916" y="3026664"/>
            <a:ext cx="192024" cy="21945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3127248" y="295351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+ GitHub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2670048" y="3410712"/>
            <a:ext cx="1499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control and collaboration</a:t>
            </a:r>
            <a:endParaRPr lang="en-US" sz="880" dirty="0"/>
          </a:p>
        </p:txBody>
      </p:sp>
      <p:sp>
        <p:nvSpPr>
          <p:cNvPr id="29" name="Shape 23"/>
          <p:cNvSpPr/>
          <p:nvPr/>
        </p:nvSpPr>
        <p:spPr>
          <a:xfrm>
            <a:off x="566928" y="4133088"/>
            <a:ext cx="3749040" cy="1463040"/>
          </a:xfrm>
          <a:prstGeom prst="roundRect">
            <a:avLst>
              <a:gd name="adj" fmla="val 7500"/>
            </a:avLst>
          </a:prstGeom>
          <a:solidFill>
            <a:srgbClr val="0B1020"/>
          </a:solidFill>
          <a:ln w="1016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32104" y="43982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41E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STACK?</a:t>
            </a:r>
            <a:endParaRPr lang="en-US" sz="950" dirty="0"/>
          </a:p>
        </p:txBody>
      </p:sp>
      <p:sp>
        <p:nvSpPr>
          <p:cNvPr id="31" name="Text 25"/>
          <p:cNvSpPr txBox="1"/>
          <p:nvPr/>
        </p:nvSpPr>
        <p:spPr>
          <a:xfrm>
            <a:off x="832104" y="47274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Small • transparent • reproducible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832104" y="50840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7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code, build steps, test cases, and output belong in the repository.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773168" y="1627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PATH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4773168" y="2011680"/>
            <a:ext cx="6565392" cy="667512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956048" y="2148840"/>
            <a:ext cx="402336" cy="393192"/>
          </a:xfrm>
          <a:prstGeom prst="roundRect">
            <a:avLst>
              <a:gd name="adj" fmla="val 27907"/>
            </a:avLst>
          </a:prstGeom>
          <a:solidFill>
            <a:srgbClr val="E7FBF8"/>
          </a:solidFill>
          <a:ln w="10160">
            <a:solidFill>
              <a:srgbClr val="E7FBF8">
                <a:alpha val="0"/>
              </a:srgbClr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4956048" y="224028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41E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30" dirty="0"/>
          </a:p>
        </p:txBody>
      </p:sp>
      <p:sp>
        <p:nvSpPr>
          <p:cNvPr id="37" name="Text 31"/>
          <p:cNvSpPr txBox="1"/>
          <p:nvPr/>
        </p:nvSpPr>
        <p:spPr>
          <a:xfrm>
            <a:off x="5532120" y="2103120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 allocation</a:t>
            </a:r>
            <a:endParaRPr lang="en-US" sz="1130" dirty="0"/>
          </a:p>
        </p:txBody>
      </p:sp>
      <p:sp>
        <p:nvSpPr>
          <p:cNvPr id="38" name="Text 32"/>
          <p:cNvSpPr txBox="1"/>
          <p:nvPr/>
        </p:nvSpPr>
        <p:spPr>
          <a:xfrm>
            <a:off x="7059168" y="2112264"/>
            <a:ext cx="3977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returned pointer and requested size.</a:t>
            </a:r>
            <a:endParaRPr lang="en-US" sz="980" dirty="0"/>
          </a:p>
        </p:txBody>
      </p:sp>
      <p:sp>
        <p:nvSpPr>
          <p:cNvPr id="39" name="Shape 33"/>
          <p:cNvSpPr/>
          <p:nvPr/>
        </p:nvSpPr>
        <p:spPr>
          <a:xfrm>
            <a:off x="4773168" y="2843784"/>
            <a:ext cx="6565392" cy="667512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956048" y="2980944"/>
            <a:ext cx="402336" cy="393192"/>
          </a:xfrm>
          <a:prstGeom prst="roundRect">
            <a:avLst>
              <a:gd name="adj" fmla="val 27907"/>
            </a:avLst>
          </a:prstGeom>
          <a:solidFill>
            <a:srgbClr val="EAF2FF"/>
          </a:solidFill>
          <a:ln w="1016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4956048" y="307238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5A9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30" dirty="0"/>
          </a:p>
        </p:txBody>
      </p:sp>
      <p:sp>
        <p:nvSpPr>
          <p:cNvPr id="42" name="Text 36"/>
          <p:cNvSpPr txBox="1"/>
          <p:nvPr/>
        </p:nvSpPr>
        <p:spPr>
          <a:xfrm>
            <a:off x="5532120" y="293522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 release</a:t>
            </a:r>
            <a:endParaRPr lang="en-US" sz="1130" dirty="0"/>
          </a:p>
        </p:txBody>
      </p:sp>
      <p:sp>
        <p:nvSpPr>
          <p:cNvPr id="43" name="Text 37"/>
          <p:cNvSpPr txBox="1"/>
          <p:nvPr/>
        </p:nvSpPr>
        <p:spPr>
          <a:xfrm>
            <a:off x="7059168" y="2944368"/>
            <a:ext cx="3977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pointer and update its tracked state.</a:t>
            </a:r>
            <a:endParaRPr lang="en-US" sz="980" dirty="0"/>
          </a:p>
        </p:txBody>
      </p:sp>
      <p:sp>
        <p:nvSpPr>
          <p:cNvPr id="44" name="Shape 38"/>
          <p:cNvSpPr/>
          <p:nvPr/>
        </p:nvSpPr>
        <p:spPr>
          <a:xfrm>
            <a:off x="4773168" y="3675888"/>
            <a:ext cx="6565392" cy="667512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4956048" y="3813048"/>
            <a:ext cx="402336" cy="393192"/>
          </a:xfrm>
          <a:prstGeom prst="roundRect">
            <a:avLst>
              <a:gd name="adj" fmla="val 27907"/>
            </a:avLst>
          </a:prstGeom>
          <a:solidFill>
            <a:srgbClr val="F2EDFF"/>
          </a:solidFill>
          <a:ln w="10160">
            <a:solidFill>
              <a:srgbClr val="F2EDFF">
                <a:alpha val="0"/>
              </a:srgbClr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4956048" y="390448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9E7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30" dirty="0"/>
          </a:p>
        </p:txBody>
      </p:sp>
      <p:sp>
        <p:nvSpPr>
          <p:cNvPr id="47" name="Text 41"/>
          <p:cNvSpPr txBox="1"/>
          <p:nvPr/>
        </p:nvSpPr>
        <p:spPr>
          <a:xfrm>
            <a:off x="5532120" y="376732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registry</a:t>
            </a:r>
            <a:endParaRPr lang="en-US" sz="1130" dirty="0"/>
          </a:p>
        </p:txBody>
      </p:sp>
      <p:sp>
        <p:nvSpPr>
          <p:cNvPr id="48" name="Text 42"/>
          <p:cNvSpPr txBox="1"/>
          <p:nvPr/>
        </p:nvSpPr>
        <p:spPr>
          <a:xfrm>
            <a:off x="7059168" y="3776472"/>
            <a:ext cx="3977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records that remain active at report time.</a:t>
            </a:r>
            <a:endParaRPr lang="en-US" sz="980" dirty="0"/>
          </a:p>
        </p:txBody>
      </p:sp>
      <p:sp>
        <p:nvSpPr>
          <p:cNvPr id="49" name="Shape 43"/>
          <p:cNvSpPr/>
          <p:nvPr/>
        </p:nvSpPr>
        <p:spPr>
          <a:xfrm>
            <a:off x="4773168" y="4507992"/>
            <a:ext cx="6565392" cy="667512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4956048" y="4645152"/>
            <a:ext cx="402336" cy="393192"/>
          </a:xfrm>
          <a:prstGeom prst="roundRect">
            <a:avLst>
              <a:gd name="adj" fmla="val 27907"/>
            </a:avLst>
          </a:prstGeom>
          <a:solidFill>
            <a:srgbClr val="FFF4E5"/>
          </a:solidFill>
          <a:ln w="10160">
            <a:solidFill>
              <a:srgbClr val="FFF4E5">
                <a:alpha val="0"/>
              </a:srgbClr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4956048" y="473659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9B9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30" dirty="0"/>
          </a:p>
        </p:txBody>
      </p:sp>
      <p:sp>
        <p:nvSpPr>
          <p:cNvPr id="52" name="Text 46"/>
          <p:cNvSpPr txBox="1"/>
          <p:nvPr/>
        </p:nvSpPr>
        <p:spPr>
          <a:xfrm>
            <a:off x="5532120" y="4599432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report</a:t>
            </a:r>
            <a:endParaRPr lang="en-US" sz="1130" dirty="0"/>
          </a:p>
        </p:txBody>
      </p:sp>
      <p:sp>
        <p:nvSpPr>
          <p:cNvPr id="53" name="Text 47"/>
          <p:cNvSpPr txBox="1"/>
          <p:nvPr/>
        </p:nvSpPr>
        <p:spPr>
          <a:xfrm>
            <a:off x="7059168" y="4608576"/>
            <a:ext cx="3977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 counts and byte totals to console / file.</a:t>
            </a:r>
            <a:endParaRPr lang="en-US" sz="980" dirty="0"/>
          </a:p>
        </p:txBody>
      </p:sp>
      <p:sp>
        <p:nvSpPr>
          <p:cNvPr id="54" name="Shape 48"/>
          <p:cNvSpPr/>
          <p:nvPr/>
        </p:nvSpPr>
        <p:spPr>
          <a:xfrm>
            <a:off x="4773168" y="5468112"/>
            <a:ext cx="6565392" cy="393192"/>
          </a:xfrm>
          <a:prstGeom prst="roundRect">
            <a:avLst>
              <a:gd name="adj" fmla="val 27907"/>
            </a:avLst>
          </a:prstGeom>
          <a:solidFill>
            <a:srgbClr val="FFF4E5"/>
          </a:solidFill>
          <a:ln w="10160">
            <a:solidFill>
              <a:srgbClr val="FFF4E5">
                <a:alpha val="0"/>
              </a:srgbClr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4974336" y="5577840"/>
            <a:ext cx="6144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8053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/ execution commands should be documented in README.md and verified on Ubuntu.</a:t>
            </a:r>
            <a:endParaRPr lang="en-US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E2D4"/>
          </a:solidFill>
          <a:ln w="1270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&amp; Validation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controlled test cases to confirm that the tracker flags remaining blocks and clears released ones.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6072" y="1225296"/>
            <a:ext cx="530352" cy="41148"/>
          </a:xfrm>
          <a:prstGeom prst="rect">
            <a:avLst>
              <a:gd name="adj" fmla="val 266667"/>
            </a:avLst>
          </a:prstGeom>
          <a:solidFill>
            <a:srgbClr val="41E2D4"/>
          </a:solidFill>
          <a:ln w="1016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651967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491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DEBUGGING SYSTEM  •  HACKATHON 2026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554480"/>
            <a:ext cx="3575304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554480"/>
            <a:ext cx="64008" cy="1572768"/>
          </a:xfrm>
          <a:prstGeom prst="rect">
            <a:avLst>
              <a:gd name="adj" fmla="val 171429"/>
            </a:avLst>
          </a:prstGeom>
          <a:solidFill>
            <a:srgbClr val="F56E85"/>
          </a:solidFill>
          <a:ln w="10160">
            <a:solidFill>
              <a:srgbClr val="F56E8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1764792"/>
            <a:ext cx="749808" cy="265176"/>
          </a:xfrm>
          <a:prstGeom prst="roundRect">
            <a:avLst>
              <a:gd name="adj" fmla="val 41379"/>
            </a:avLst>
          </a:prstGeom>
          <a:solidFill>
            <a:srgbClr val="FFF0F2"/>
          </a:solidFill>
          <a:ln w="10160">
            <a:solidFill>
              <a:srgbClr val="FFF0F2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" y="17785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spc="20" kern="0" dirty="0">
                <a:solidFill>
                  <a:srgbClr val="F56E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01</a:t>
            </a:r>
            <a:endParaRPr lang="en-US" sz="87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21214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Intentional leak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44144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Allocate 100 bytes and do not release the tracked block.</a:t>
            </a:r>
            <a:endParaRPr lang="en-US" sz="97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2807208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56E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Expected: 1 outstanding block • 100 bytes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297680" y="1554480"/>
            <a:ext cx="3575304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554480"/>
            <a:ext cx="64008" cy="1572768"/>
          </a:xfrm>
          <a:prstGeom prst="rect">
            <a:avLst>
              <a:gd name="adj" fmla="val 171429"/>
            </a:avLst>
          </a:prstGeom>
          <a:solidFill>
            <a:srgbClr val="31D6A5"/>
          </a:solidFill>
          <a:ln w="10160">
            <a:solidFill>
              <a:srgbClr val="31D6A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17136" y="1764792"/>
            <a:ext cx="749808" cy="265176"/>
          </a:xfrm>
          <a:prstGeom prst="roundRect">
            <a:avLst>
              <a:gd name="adj" fmla="val 41379"/>
            </a:avLst>
          </a:prstGeom>
          <a:solidFill>
            <a:srgbClr val="E8FBF3"/>
          </a:solidFill>
          <a:ln w="10160">
            <a:solidFill>
              <a:srgbClr val="E8FBF3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08576" y="17785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spc="20" kern="0" dirty="0">
                <a:solidFill>
                  <a:srgbClr val="31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02</a:t>
            </a:r>
            <a:endParaRPr lang="en-US" sz="870" dirty="0"/>
          </a:p>
        </p:txBody>
      </p:sp>
      <p:sp>
        <p:nvSpPr>
          <p:cNvPr id="20" name="Text 18"/>
          <p:cNvSpPr txBox="1"/>
          <p:nvPr/>
        </p:nvSpPr>
        <p:spPr>
          <a:xfrm>
            <a:off x="4517136" y="21214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release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17136" y="244144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Allocate 100 bytes, then release the same tracked block.</a:t>
            </a:r>
            <a:endParaRPr lang="en-US" sz="970" dirty="0"/>
          </a:p>
        </p:txBody>
      </p:sp>
      <p:sp>
        <p:nvSpPr>
          <p:cNvPr id="22" name="Text 20"/>
          <p:cNvSpPr txBox="1"/>
          <p:nvPr/>
        </p:nvSpPr>
        <p:spPr>
          <a:xfrm>
            <a:off x="4517136" y="2807208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31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Expected: 0 outstanding blocks • 0 bytes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8028432" y="1554480"/>
            <a:ext cx="3575304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28432" y="1554480"/>
            <a:ext cx="64008" cy="1572768"/>
          </a:xfrm>
          <a:prstGeom prst="rect">
            <a:avLst>
              <a:gd name="adj" fmla="val 171429"/>
            </a:avLst>
          </a:prstGeom>
          <a:solidFill>
            <a:srgbClr val="F9B95E"/>
          </a:solidFill>
          <a:ln w="10160">
            <a:solidFill>
              <a:srgbClr val="F9B95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47888" y="1764792"/>
            <a:ext cx="749808" cy="265176"/>
          </a:xfrm>
          <a:prstGeom prst="roundRect">
            <a:avLst>
              <a:gd name="adj" fmla="val 41379"/>
            </a:avLst>
          </a:prstGeom>
          <a:solidFill>
            <a:srgbClr val="FFF4E5"/>
          </a:solidFill>
          <a:ln w="10160">
            <a:solidFill>
              <a:srgbClr val="FFF4E5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39328" y="17785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spc="20" kern="0" dirty="0">
                <a:solidFill>
                  <a:srgbClr val="F9B9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03</a:t>
            </a:r>
            <a:endParaRPr lang="en-US" sz="870" dirty="0"/>
          </a:p>
        </p:txBody>
      </p:sp>
      <p:sp>
        <p:nvSpPr>
          <p:cNvPr id="27" name="Text 25"/>
          <p:cNvSpPr txBox="1"/>
          <p:nvPr/>
        </p:nvSpPr>
        <p:spPr>
          <a:xfrm>
            <a:off x="8247888" y="21214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release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47888" y="244144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Allocate multiple blocks and release only some of them.</a:t>
            </a:r>
            <a:endParaRPr lang="en-US" sz="970" dirty="0"/>
          </a:p>
        </p:txBody>
      </p:sp>
      <p:sp>
        <p:nvSpPr>
          <p:cNvPr id="29" name="Text 27"/>
          <p:cNvSpPr txBox="1"/>
          <p:nvPr/>
        </p:nvSpPr>
        <p:spPr>
          <a:xfrm>
            <a:off x="8247888" y="2807208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9B9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Expected: only remaining blocks listed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566928" y="3447288"/>
            <a:ext cx="6720840" cy="2286000"/>
          </a:xfrm>
          <a:prstGeom prst="roundRect">
            <a:avLst>
              <a:gd name="adj" fmla="val 4800"/>
            </a:avLst>
          </a:prstGeom>
          <a:solidFill>
            <a:srgbClr val="0B1020"/>
          </a:solidFill>
          <a:ln w="1016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" y="3675888"/>
            <a:ext cx="100584" cy="100584"/>
          </a:xfrm>
          <a:prstGeom prst="ellipse">
            <a:avLst/>
          </a:prstGeom>
          <a:solidFill>
            <a:srgbClr val="F56E85"/>
          </a:solidFill>
          <a:ln w="12700">
            <a:solidFill>
              <a:srgbClr val="F56E8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3675888"/>
            <a:ext cx="100584" cy="100584"/>
          </a:xfrm>
          <a:prstGeom prst="ellipse">
            <a:avLst/>
          </a:prstGeom>
          <a:solidFill>
            <a:srgbClr val="F9B95E"/>
          </a:solidFill>
          <a:ln w="12700">
            <a:solidFill>
              <a:srgbClr val="F9B95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79576" y="3675888"/>
            <a:ext cx="100584" cy="100584"/>
          </a:xfrm>
          <a:prstGeom prst="ellipse">
            <a:avLst/>
          </a:prstGeom>
          <a:solidFill>
            <a:srgbClr val="31D6A5"/>
          </a:solidFill>
          <a:ln w="12700">
            <a:solidFill>
              <a:srgbClr val="31D6A5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463040" y="363931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memory_report.txt  /  example format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832104" y="3931920"/>
            <a:ext cx="6135624" cy="0"/>
          </a:xfrm>
          <a:prstGeom prst="line">
            <a:avLst/>
          </a:prstGeom>
          <a:noFill/>
          <a:ln w="12700">
            <a:solidFill>
              <a:srgbClr val="2B3F5A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 txBox="1"/>
          <p:nvPr/>
        </p:nvSpPr>
        <p:spPr>
          <a:xfrm>
            <a:off x="905256" y="410565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41E2D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MEMORY LEAK DETECTION REPORT</a:t>
            </a:r>
            <a:endParaRPr lang="en-US" sz="960" dirty="0"/>
          </a:p>
        </p:txBody>
      </p:sp>
      <p:sp>
        <p:nvSpPr>
          <p:cNvPr id="37" name="Text 35"/>
          <p:cNvSpPr txBox="1"/>
          <p:nvPr/>
        </p:nvSpPr>
        <p:spPr>
          <a:xfrm>
            <a:off x="905256" y="433425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8E3F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Total allocations        : 1</a:t>
            </a:r>
            <a:endParaRPr lang="en-US" sz="960" dirty="0"/>
          </a:p>
        </p:txBody>
      </p:sp>
      <p:sp>
        <p:nvSpPr>
          <p:cNvPr id="38" name="Text 36"/>
          <p:cNvSpPr txBox="1"/>
          <p:nvPr/>
        </p:nvSpPr>
        <p:spPr>
          <a:xfrm>
            <a:off x="905256" y="456285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8E3F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Total released blocks    : 0</a:t>
            </a:r>
            <a:endParaRPr lang="en-US" sz="960" dirty="0"/>
          </a:p>
        </p:txBody>
      </p:sp>
      <p:sp>
        <p:nvSpPr>
          <p:cNvPr id="39" name="Text 37"/>
          <p:cNvSpPr txBox="1"/>
          <p:nvPr/>
        </p:nvSpPr>
        <p:spPr>
          <a:xfrm>
            <a:off x="905256" y="479145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9B95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Potential leaked blocks  : 1</a:t>
            </a:r>
            <a:endParaRPr lang="en-US" sz="960" dirty="0"/>
          </a:p>
        </p:txBody>
      </p:sp>
      <p:sp>
        <p:nvSpPr>
          <p:cNvPr id="40" name="Text 38"/>
          <p:cNvSpPr txBox="1"/>
          <p:nvPr/>
        </p:nvSpPr>
        <p:spPr>
          <a:xfrm>
            <a:off x="905256" y="502005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9B95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Potential leaked memory  : 100 bytes</a:t>
            </a:r>
            <a:endParaRPr lang="en-US" sz="960" dirty="0"/>
          </a:p>
        </p:txBody>
      </p:sp>
      <p:sp>
        <p:nvSpPr>
          <p:cNvPr id="41" name="Text 39"/>
          <p:cNvSpPr txBox="1"/>
          <p:nvPr/>
        </p:nvSpPr>
        <p:spPr>
          <a:xfrm>
            <a:off x="905256" y="524865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6E8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Status: MEMORY LEAK DETECTED</a:t>
            </a:r>
            <a:endParaRPr lang="en-US" sz="960" dirty="0"/>
          </a:p>
        </p:txBody>
      </p:sp>
      <p:sp>
        <p:nvSpPr>
          <p:cNvPr id="42" name="Text 40"/>
          <p:cNvSpPr txBox="1"/>
          <p:nvPr/>
        </p:nvSpPr>
        <p:spPr>
          <a:xfrm>
            <a:off x="7626096" y="3511296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CHECKLIST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644384" y="3941064"/>
            <a:ext cx="246888" cy="246888"/>
          </a:xfrm>
          <a:prstGeom prst="roundRect">
            <a:avLst>
              <a:gd name="adj" fmla="val 44444"/>
            </a:avLst>
          </a:prstGeom>
          <a:solidFill>
            <a:srgbClr val="E7FBF8"/>
          </a:solidFill>
          <a:ln w="10160">
            <a:solidFill>
              <a:srgbClr val="E7FBF8">
                <a:alpha val="0"/>
              </a:srgbClr>
            </a:solidFill>
            <a:prstDash val="solid"/>
          </a:ln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98699" y="3995379"/>
            <a:ext cx="138257" cy="138257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8028432" y="39502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expected vs actual counts</a:t>
            </a:r>
            <a:endParaRPr lang="en-US" sz="1010" dirty="0"/>
          </a:p>
        </p:txBody>
      </p:sp>
      <p:sp>
        <p:nvSpPr>
          <p:cNvPr id="46" name="Shape 43"/>
          <p:cNvSpPr/>
          <p:nvPr/>
        </p:nvSpPr>
        <p:spPr>
          <a:xfrm>
            <a:off x="7644384" y="4379976"/>
            <a:ext cx="246888" cy="246888"/>
          </a:xfrm>
          <a:prstGeom prst="roundRect">
            <a:avLst>
              <a:gd name="adj" fmla="val 44444"/>
            </a:avLst>
          </a:prstGeom>
          <a:solidFill>
            <a:srgbClr val="E7FBF8"/>
          </a:solidFill>
          <a:ln w="10160">
            <a:solidFill>
              <a:srgbClr val="E7FBF8">
                <a:alpha val="0"/>
              </a:srgbClr>
            </a:solidFill>
            <a:prstDash val="solid"/>
          </a:ln>
        </p:spPr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8699" y="4434291"/>
            <a:ext cx="138257" cy="138257"/>
          </a:xfrm>
          <a:prstGeom prst="rect">
            <a:avLst/>
          </a:prstGeom>
        </p:spPr>
      </p:pic>
      <p:sp>
        <p:nvSpPr>
          <p:cNvPr id="48" name="Text 44"/>
          <p:cNvSpPr txBox="1"/>
          <p:nvPr/>
        </p:nvSpPr>
        <p:spPr>
          <a:xfrm>
            <a:off x="8028432" y="4389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byte totals match test inputs</a:t>
            </a:r>
            <a:endParaRPr lang="en-US" sz="1010" dirty="0"/>
          </a:p>
        </p:txBody>
      </p:sp>
      <p:sp>
        <p:nvSpPr>
          <p:cNvPr id="49" name="Shape 45"/>
          <p:cNvSpPr/>
          <p:nvPr/>
        </p:nvSpPr>
        <p:spPr>
          <a:xfrm>
            <a:off x="7644384" y="4818888"/>
            <a:ext cx="246888" cy="246888"/>
          </a:xfrm>
          <a:prstGeom prst="roundRect">
            <a:avLst>
              <a:gd name="adj" fmla="val 44444"/>
            </a:avLst>
          </a:prstGeom>
          <a:solidFill>
            <a:srgbClr val="E7FBF8"/>
          </a:solidFill>
          <a:ln w="10160">
            <a:solidFill>
              <a:srgbClr val="E7FBF8">
                <a:alpha val="0"/>
              </a:srgbClr>
            </a:solidFill>
            <a:prstDash val="solid"/>
          </a:ln>
        </p:spPr>
      </p:sp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98699" y="4873203"/>
            <a:ext cx="138257" cy="138257"/>
          </a:xfrm>
          <a:prstGeom prst="rect">
            <a:avLst/>
          </a:prstGeom>
        </p:spPr>
      </p:pic>
      <p:sp>
        <p:nvSpPr>
          <p:cNvPr id="51" name="Text 46"/>
          <p:cNvSpPr txBox="1"/>
          <p:nvPr/>
        </p:nvSpPr>
        <p:spPr>
          <a:xfrm>
            <a:off x="8028432" y="48280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report file is created</a:t>
            </a:r>
            <a:endParaRPr lang="en-US" sz="1010" dirty="0"/>
          </a:p>
        </p:txBody>
      </p:sp>
      <p:sp>
        <p:nvSpPr>
          <p:cNvPr id="52" name="Shape 47"/>
          <p:cNvSpPr/>
          <p:nvPr/>
        </p:nvSpPr>
        <p:spPr>
          <a:xfrm>
            <a:off x="7644384" y="5257800"/>
            <a:ext cx="246888" cy="246888"/>
          </a:xfrm>
          <a:prstGeom prst="roundRect">
            <a:avLst>
              <a:gd name="adj" fmla="val 44444"/>
            </a:avLst>
          </a:prstGeom>
          <a:solidFill>
            <a:srgbClr val="E7FBF8"/>
          </a:solidFill>
          <a:ln w="10160">
            <a:solidFill>
              <a:srgbClr val="E7FBF8">
                <a:alpha val="0"/>
              </a:srgbClr>
            </a:solidFill>
            <a:prstDash val="solid"/>
          </a:ln>
        </p:spPr>
      </p:sp>
      <p:pic>
        <p:nvPicPr>
          <p:cNvPr id="5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98699" y="5312115"/>
            <a:ext cx="138257" cy="138257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8028432" y="52669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invalid / repeated release safely</a:t>
            </a:r>
            <a:endParaRPr lang="en-US" sz="1010" dirty="0"/>
          </a:p>
        </p:txBody>
      </p:sp>
      <p:sp>
        <p:nvSpPr>
          <p:cNvPr id="55" name="Shape 49"/>
          <p:cNvSpPr/>
          <p:nvPr/>
        </p:nvSpPr>
        <p:spPr>
          <a:xfrm>
            <a:off x="7626096" y="5687568"/>
            <a:ext cx="3401568" cy="283464"/>
          </a:xfrm>
          <a:prstGeom prst="roundRect">
            <a:avLst>
              <a:gd name="adj" fmla="val 38710"/>
            </a:avLst>
          </a:prstGeom>
          <a:solidFill>
            <a:srgbClr val="FFF4E5"/>
          </a:solidFill>
          <a:ln w="10160">
            <a:solidFill>
              <a:srgbClr val="FFF4E5">
                <a:alpha val="0"/>
              </a:srgbClr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7717536" y="570128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spc="20" kern="0" dirty="0">
                <a:solidFill>
                  <a:srgbClr val="8B5E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FORMAT — NOT A VERIFIED RUN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E2D4"/>
          </a:solidFill>
          <a:ln w="1270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Demonstration Plan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90-second walkthrough should show the problem, the detector, and evidence that the report is correct.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6072" y="1225296"/>
            <a:ext cx="530352" cy="41148"/>
          </a:xfrm>
          <a:prstGeom prst="rect">
            <a:avLst>
              <a:gd name="adj" fmla="val 266667"/>
            </a:avLst>
          </a:prstGeom>
          <a:solidFill>
            <a:srgbClr val="41E2D4"/>
          </a:solidFill>
          <a:ln w="1016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651967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491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DEBUGGING SYSTEM  •  HACKATHON 2026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97280" y="2167128"/>
            <a:ext cx="9875520" cy="0"/>
          </a:xfrm>
          <a:prstGeom prst="line">
            <a:avLst/>
          </a:prstGeom>
          <a:noFill/>
          <a:ln w="25400">
            <a:solidFill>
              <a:srgbClr val="C9D4E3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453896" y="1984248"/>
            <a:ext cx="365760" cy="365760"/>
          </a:xfrm>
          <a:prstGeom prst="ellipse">
            <a:avLst/>
          </a:prstGeom>
          <a:solidFill>
            <a:srgbClr val="41E2D4"/>
          </a:solidFill>
          <a:ln w="25400">
            <a:solidFill>
              <a:srgbClr val="F4F7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53896" y="209397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5800" y="2633472"/>
            <a:ext cx="2331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5292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7FBF8"/>
          </a:solidFill>
          <a:ln w="10160">
            <a:solidFill>
              <a:srgbClr val="E7FBF8">
                <a:alpha val="0"/>
              </a:srgbClr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41" y="2963144"/>
            <a:ext cx="245791" cy="218481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426464" y="288950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3493008"/>
            <a:ext cx="19568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Linux Debugging System and choose the memory detector.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279392" y="1984248"/>
            <a:ext cx="365760" cy="365760"/>
          </a:xfrm>
          <a:prstGeom prst="ellipse">
            <a:avLst/>
          </a:prstGeom>
          <a:solidFill>
            <a:srgbClr val="F56E85"/>
          </a:solidFill>
          <a:ln w="25400">
            <a:solidFill>
              <a:srgbClr val="F4F7F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279392" y="209397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511296" y="2633472"/>
            <a:ext cx="2331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94176" y="285292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FFF0F2"/>
          </a:solidFill>
          <a:ln w="10160">
            <a:solidFill>
              <a:srgbClr val="FFF0F2">
                <a:alpha val="0"/>
              </a:srgbClr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90737" y="2963144"/>
            <a:ext cx="245791" cy="218481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251960" y="288950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 case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3694176" y="3493008"/>
            <a:ext cx="19568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 test that intentionally leaves a tracked block unreleased.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104888" y="1984248"/>
            <a:ext cx="365760" cy="365760"/>
          </a:xfrm>
          <a:prstGeom prst="ellipse">
            <a:avLst/>
          </a:prstGeom>
          <a:solidFill>
            <a:srgbClr val="F9B95E"/>
          </a:solidFill>
          <a:ln w="25400">
            <a:solidFill>
              <a:srgbClr val="F4F7F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104888" y="209397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6336792" y="2633472"/>
            <a:ext cx="2331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519672" y="285292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FFF4E5"/>
          </a:solidFill>
          <a:ln w="10160">
            <a:solidFill>
              <a:srgbClr val="FFF4E5">
                <a:alpha val="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0373" y="2940710"/>
            <a:ext cx="197510" cy="263347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7077456" y="288950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report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6519672" y="3493008"/>
            <a:ext cx="19568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outstanding block count, total bytes, and saved report file.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9930384" y="1984248"/>
            <a:ext cx="365760" cy="365760"/>
          </a:xfrm>
          <a:prstGeom prst="ellipse">
            <a:avLst/>
          </a:prstGeom>
          <a:solidFill>
            <a:srgbClr val="31D6A5"/>
          </a:solidFill>
          <a:ln w="25400">
            <a:solidFill>
              <a:srgbClr val="F4F7FB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9930384" y="209397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9162288" y="2633472"/>
            <a:ext cx="2331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9345168" y="285292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8FBF3"/>
          </a:solidFill>
          <a:ln w="10160">
            <a:solidFill>
              <a:srgbClr val="E8FBF3">
                <a:alpha val="0"/>
              </a:srgbClr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41729" y="2949489"/>
            <a:ext cx="245791" cy="245791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9902952" y="288950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case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9345168" y="3493008"/>
            <a:ext cx="19568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 second test where every tracked block is released.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85800" y="4846320"/>
            <a:ext cx="10826496" cy="987552"/>
          </a:xfrm>
          <a:prstGeom prst="roundRect">
            <a:avLst>
              <a:gd name="adj" fmla="val 11111"/>
            </a:avLst>
          </a:prstGeom>
          <a:solidFill>
            <a:srgbClr val="0B1020"/>
          </a:solidFill>
          <a:ln w="1016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932688" y="51023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B3E49"/>
          </a:solidFill>
          <a:ln w="10160">
            <a:solidFill>
              <a:srgbClr val="1B3E49">
                <a:alpha val="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8418" y="5193792"/>
            <a:ext cx="205740" cy="27432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1572768" y="50109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1E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EVALUATOR SHOULD SEE</a:t>
            </a:r>
            <a:endParaRPr lang="en-US" sz="1100" dirty="0"/>
          </a:p>
        </p:txBody>
      </p:sp>
      <p:sp>
        <p:nvSpPr>
          <p:cNvPr id="42" name="Text 35"/>
          <p:cNvSpPr txBox="1"/>
          <p:nvPr/>
        </p:nvSpPr>
        <p:spPr>
          <a:xfrm>
            <a:off x="1572768" y="5330952"/>
            <a:ext cx="9070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leak flagged   2) correct totals   3) report file saved   4) clean test shows zero outstanding blocks</a:t>
            </a:r>
            <a:endParaRPr lang="en-US" sz="11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E2D4"/>
          </a:solidFill>
          <a:ln w="1270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34747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GitHub, Documentation &amp; Teamwork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repository should make your prototype easy to build, test, review, and run on evaluation day.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6072" y="1225296"/>
            <a:ext cx="530352" cy="41148"/>
          </a:xfrm>
          <a:prstGeom prst="rect">
            <a:avLst>
              <a:gd name="adj" fmla="val 266667"/>
            </a:avLst>
          </a:prstGeom>
          <a:solidFill>
            <a:srgbClr val="41E2D4"/>
          </a:solidFill>
          <a:ln w="1016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651967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491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DEBUGGING SYSTEM  •  HACKATHON 2026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536192"/>
            <a:ext cx="507492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1792224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0B1020"/>
          </a:solidFill>
          <a:ln w="10160">
            <a:solidFill>
              <a:srgbClr val="0B1020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7664" y="1890979"/>
            <a:ext cx="259232" cy="29626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508760" y="186537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checklist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48716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D8E3F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Linux-Debugging-System/</a:t>
            </a:r>
            <a:endParaRPr lang="en-US" sz="102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7889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1E2D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src/</a:t>
            </a:r>
            <a:endParaRPr lang="en-US" sz="102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9067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3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├── main.c</a:t>
            </a:r>
            <a:endParaRPr lang="en-US" sz="102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392424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3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└── leak_tracker.c / .h</a:t>
            </a:r>
            <a:endParaRPr lang="en-US" sz="102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694176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1E2D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tests/</a:t>
            </a:r>
            <a:endParaRPr lang="en-US" sz="102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99592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1E2D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reports/</a:t>
            </a:r>
            <a:endParaRPr lang="en-US" sz="102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2976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9B95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README.md</a:t>
            </a:r>
            <a:endParaRPr lang="en-US" sz="102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59943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9B95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PROJECT_REPORT.md</a:t>
            </a:r>
            <a:endParaRPr lang="en-US" sz="102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901184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E7B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└── .gitignore  (optional Makefile)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859536" y="5394960"/>
            <a:ext cx="4489704" cy="320040"/>
          </a:xfrm>
          <a:prstGeom prst="roundRect">
            <a:avLst>
              <a:gd name="adj" fmla="val 34286"/>
            </a:avLst>
          </a:prstGeom>
          <a:solidFill>
            <a:srgbClr val="E7FBF8"/>
          </a:solidFill>
          <a:ln w="10160">
            <a:solidFill>
              <a:srgbClr val="E7FBF8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9264" y="5468112"/>
            <a:ext cx="4261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8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README: setup • compile • run • test • sample output</a:t>
            </a:r>
            <a:endParaRPr lang="en-US" sz="880" dirty="0"/>
          </a:p>
        </p:txBody>
      </p:sp>
      <p:sp>
        <p:nvSpPr>
          <p:cNvPr id="24" name="Text 21"/>
          <p:cNvSpPr txBox="1"/>
          <p:nvPr/>
        </p:nvSpPr>
        <p:spPr>
          <a:xfrm>
            <a:off x="6080760" y="16733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CONTRIBUTION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062472" y="2048256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45352" y="2176272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7FBF8"/>
          </a:solidFill>
          <a:ln w="10160">
            <a:solidFill>
              <a:srgbClr val="E7FBF8">
                <a:alpha val="0"/>
              </a:srgbClr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7889" y="2292364"/>
            <a:ext cx="235549" cy="18844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6839712" y="21488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160" dirty="0"/>
          </a:p>
        </p:txBody>
      </p:sp>
      <p:sp>
        <p:nvSpPr>
          <p:cNvPr id="29" name="Text 25"/>
          <p:cNvSpPr txBox="1"/>
          <p:nvPr/>
        </p:nvSpPr>
        <p:spPr>
          <a:xfrm>
            <a:off x="8732520" y="2157984"/>
            <a:ext cx="2523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tracker, registry, report generation</a:t>
            </a:r>
            <a:endParaRPr lang="en-US" sz="910" dirty="0"/>
          </a:p>
        </p:txBody>
      </p:sp>
      <p:sp>
        <p:nvSpPr>
          <p:cNvPr id="30" name="Shape 26"/>
          <p:cNvSpPr/>
          <p:nvPr/>
        </p:nvSpPr>
        <p:spPr>
          <a:xfrm>
            <a:off x="6062472" y="2889504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245352" y="301752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AF2FF"/>
          </a:solidFill>
          <a:ln w="10160">
            <a:solidFill>
              <a:srgbClr val="EAF2FF">
                <a:alpha val="0"/>
              </a:srgbClr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5250" y="3101645"/>
            <a:ext cx="220828" cy="252374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839712" y="29900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&amp; integration</a:t>
            </a:r>
            <a:endParaRPr lang="en-US" sz="1160" dirty="0"/>
          </a:p>
        </p:txBody>
      </p:sp>
      <p:sp>
        <p:nvSpPr>
          <p:cNvPr id="34" name="Text 29"/>
          <p:cNvSpPr txBox="1"/>
          <p:nvPr/>
        </p:nvSpPr>
        <p:spPr>
          <a:xfrm>
            <a:off x="8732520" y="2999232"/>
            <a:ext cx="2523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 / no-leak cases, Linux menu integration</a:t>
            </a:r>
            <a:endParaRPr lang="en-US" sz="910" dirty="0"/>
          </a:p>
        </p:txBody>
      </p:sp>
      <p:sp>
        <p:nvSpPr>
          <p:cNvPr id="35" name="Shape 30"/>
          <p:cNvSpPr/>
          <p:nvPr/>
        </p:nvSpPr>
        <p:spPr>
          <a:xfrm>
            <a:off x="6062472" y="3730752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245352" y="385876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2EDFF"/>
          </a:solidFill>
          <a:ln w="10160">
            <a:solidFill>
              <a:srgbClr val="F2EDFF">
                <a:alpha val="0"/>
              </a:srgbClr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1024" y="3942893"/>
            <a:ext cx="189281" cy="252374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6839712" y="38313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</a:t>
            </a:r>
            <a:endParaRPr lang="en-US" sz="1160" dirty="0"/>
          </a:p>
        </p:txBody>
      </p:sp>
      <p:sp>
        <p:nvSpPr>
          <p:cNvPr id="39" name="Text 33"/>
          <p:cNvSpPr txBox="1"/>
          <p:nvPr/>
        </p:nvSpPr>
        <p:spPr>
          <a:xfrm>
            <a:off x="8732520" y="3840480"/>
            <a:ext cx="2523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README, project report, architecture diagram</a:t>
            </a:r>
            <a:endParaRPr lang="en-US" sz="910" dirty="0"/>
          </a:p>
        </p:txBody>
      </p:sp>
      <p:sp>
        <p:nvSpPr>
          <p:cNvPr id="40" name="Shape 34"/>
          <p:cNvSpPr/>
          <p:nvPr/>
        </p:nvSpPr>
        <p:spPr>
          <a:xfrm>
            <a:off x="6062472" y="4572000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DCE4F0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6245352" y="4700016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FF4E5"/>
          </a:solidFill>
          <a:ln w="10160">
            <a:solidFill>
              <a:srgbClr val="FFF4E5">
                <a:alpha val="0"/>
              </a:srgbClr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37889" y="4816108"/>
            <a:ext cx="235549" cy="188440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6839712" y="46725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6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&amp; presentation</a:t>
            </a:r>
            <a:endParaRPr lang="en-US" sz="1160" dirty="0"/>
          </a:p>
        </p:txBody>
      </p:sp>
      <p:sp>
        <p:nvSpPr>
          <p:cNvPr id="44" name="Text 37"/>
          <p:cNvSpPr txBox="1"/>
          <p:nvPr/>
        </p:nvSpPr>
        <p:spPr>
          <a:xfrm>
            <a:off x="8732520" y="4681728"/>
            <a:ext cx="2523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PPT, live demo, clear explanation of results</a:t>
            </a:r>
            <a:endParaRPr lang="en-US" sz="910" dirty="0"/>
          </a:p>
        </p:txBody>
      </p:sp>
      <p:sp>
        <p:nvSpPr>
          <p:cNvPr id="45" name="Shape 38"/>
          <p:cNvSpPr/>
          <p:nvPr/>
        </p:nvSpPr>
        <p:spPr>
          <a:xfrm>
            <a:off x="6062472" y="5486400"/>
            <a:ext cx="5440680" cy="402336"/>
          </a:xfrm>
          <a:prstGeom prst="roundRect">
            <a:avLst>
              <a:gd name="adj" fmla="val 27273"/>
            </a:avLst>
          </a:prstGeom>
          <a:solidFill>
            <a:srgbClr val="0B1020"/>
          </a:solidFill>
          <a:ln w="1016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245352" y="5586984"/>
            <a:ext cx="5084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member should be able to explain the complete flow.</a:t>
            </a:r>
            <a:endParaRPr lang="en-US" sz="9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E2D4"/>
          </a:solidFill>
          <a:ln w="1270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3931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60" kern="0" dirty="0">
                <a:solidFill>
                  <a:srgbClr val="41E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&amp; NEXT STEPS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7406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 memory operations into actionable debugging evidence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5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first version with clear opportunities for improvement.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7D8D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DEBUGGING SYSTEM  •  HACKATHON 2026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AB7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938528"/>
            <a:ext cx="3447288" cy="2907792"/>
          </a:xfrm>
          <a:prstGeom prst="roundRect">
            <a:avLst>
              <a:gd name="adj" fmla="val 3774"/>
            </a:avLst>
          </a:prstGeom>
          <a:solidFill>
            <a:srgbClr val="13223A"/>
          </a:solidFill>
          <a:ln w="10160">
            <a:solidFill>
              <a:srgbClr val="2B3F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221284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20344C"/>
          </a:solidFill>
          <a:ln w="10160">
            <a:solidFill>
              <a:srgbClr val="20344C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447" y="2315261"/>
            <a:ext cx="268834" cy="30723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618488" y="2304288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impact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60120" y="2999232"/>
            <a:ext cx="91440" cy="91440"/>
          </a:xfrm>
          <a:prstGeom prst="ellipse">
            <a:avLst/>
          </a:prstGeom>
          <a:solidFill>
            <a:srgbClr val="41E2D4"/>
          </a:solidFill>
          <a:ln w="1270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61288" y="2944368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CB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Makes tracked memory use visible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960120" y="3392424"/>
            <a:ext cx="91440" cy="91440"/>
          </a:xfrm>
          <a:prstGeom prst="ellipse">
            <a:avLst/>
          </a:prstGeom>
          <a:solidFill>
            <a:srgbClr val="41E2D4"/>
          </a:solidFill>
          <a:ln w="1270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61288" y="333756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CB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investigate leaks faster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960120" y="3785616"/>
            <a:ext cx="91440" cy="91440"/>
          </a:xfrm>
          <a:prstGeom prst="ellipse">
            <a:avLst/>
          </a:prstGeom>
          <a:solidFill>
            <a:srgbClr val="41E2D4"/>
          </a:solidFill>
          <a:ln w="1270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61288" y="3730752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CB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Produces a shareable report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960120" y="4178808"/>
            <a:ext cx="91440" cy="91440"/>
          </a:xfrm>
          <a:prstGeom prst="ellipse">
            <a:avLst/>
          </a:prstGeom>
          <a:solidFill>
            <a:srgbClr val="41E2D4"/>
          </a:solidFill>
          <a:ln w="1270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61288" y="4123944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CB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OS / systems learning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4370832" y="1938528"/>
            <a:ext cx="3447288" cy="2907792"/>
          </a:xfrm>
          <a:prstGeom prst="roundRect">
            <a:avLst>
              <a:gd name="adj" fmla="val 3774"/>
            </a:avLst>
          </a:prstGeom>
          <a:solidFill>
            <a:srgbClr val="13223A"/>
          </a:solidFill>
          <a:ln w="10160">
            <a:solidFill>
              <a:srgbClr val="2B3F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26864" y="221284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20344C"/>
          </a:solidFill>
          <a:ln w="10160">
            <a:solidFill>
              <a:srgbClr val="20344C">
                <a:alpha val="0"/>
              </a:srgbClr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518" y="2325502"/>
            <a:ext cx="286756" cy="286756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303520" y="2304288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4645152" y="2999232"/>
            <a:ext cx="91440" cy="91440"/>
          </a:xfrm>
          <a:prstGeom prst="ellipse">
            <a:avLst/>
          </a:prstGeom>
          <a:solidFill>
            <a:srgbClr val="9E7BFF"/>
          </a:solidFill>
          <a:ln w="12700">
            <a:solidFill>
              <a:srgbClr val="9E7B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846320" y="2944368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CB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source file / line locations</a:t>
            </a:r>
            <a:endParaRPr lang="en-US" sz="1060" dirty="0"/>
          </a:p>
        </p:txBody>
      </p:sp>
      <p:sp>
        <p:nvSpPr>
          <p:cNvPr id="27" name="Shape 23"/>
          <p:cNvSpPr/>
          <p:nvPr/>
        </p:nvSpPr>
        <p:spPr>
          <a:xfrm>
            <a:off x="4645152" y="3392424"/>
            <a:ext cx="91440" cy="91440"/>
          </a:xfrm>
          <a:prstGeom prst="ellipse">
            <a:avLst/>
          </a:prstGeom>
          <a:solidFill>
            <a:srgbClr val="9E7BFF"/>
          </a:solidFill>
          <a:ln w="12700">
            <a:solidFill>
              <a:srgbClr val="9E7B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846320" y="333756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CB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invalid or repeated frees</a:t>
            </a:r>
            <a:endParaRPr lang="en-US" sz="1060" dirty="0"/>
          </a:p>
        </p:txBody>
      </p:sp>
      <p:sp>
        <p:nvSpPr>
          <p:cNvPr id="29" name="Shape 25"/>
          <p:cNvSpPr/>
          <p:nvPr/>
        </p:nvSpPr>
        <p:spPr>
          <a:xfrm>
            <a:off x="4645152" y="3785616"/>
            <a:ext cx="91440" cy="91440"/>
          </a:xfrm>
          <a:prstGeom prst="ellipse">
            <a:avLst/>
          </a:prstGeom>
          <a:solidFill>
            <a:srgbClr val="9E7BFF"/>
          </a:solidFill>
          <a:ln w="12700">
            <a:solidFill>
              <a:srgbClr val="9E7B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846320" y="3730752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CB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more allocation APIs</a:t>
            </a:r>
            <a:endParaRPr lang="en-US" sz="1060" dirty="0"/>
          </a:p>
        </p:txBody>
      </p:sp>
      <p:sp>
        <p:nvSpPr>
          <p:cNvPr id="31" name="Shape 27"/>
          <p:cNvSpPr/>
          <p:nvPr/>
        </p:nvSpPr>
        <p:spPr>
          <a:xfrm>
            <a:off x="4645152" y="4178808"/>
            <a:ext cx="91440" cy="91440"/>
          </a:xfrm>
          <a:prstGeom prst="ellipse">
            <a:avLst/>
          </a:prstGeom>
          <a:solidFill>
            <a:srgbClr val="9E7BFF"/>
          </a:solidFill>
          <a:ln w="12700">
            <a:solidFill>
              <a:srgbClr val="9E7B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846320" y="4123944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CB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 with Valgrind / ASan</a:t>
            </a:r>
            <a:endParaRPr lang="en-US" sz="1060" dirty="0"/>
          </a:p>
        </p:txBody>
      </p:sp>
      <p:sp>
        <p:nvSpPr>
          <p:cNvPr id="33" name="Shape 29"/>
          <p:cNvSpPr/>
          <p:nvPr/>
        </p:nvSpPr>
        <p:spPr>
          <a:xfrm>
            <a:off x="8055864" y="1938528"/>
            <a:ext cx="3447288" cy="2907792"/>
          </a:xfrm>
          <a:prstGeom prst="roundRect">
            <a:avLst>
              <a:gd name="adj" fmla="val 3774"/>
            </a:avLst>
          </a:prstGeom>
          <a:solidFill>
            <a:srgbClr val="13223A"/>
          </a:solidFill>
          <a:ln w="10160">
            <a:solidFill>
              <a:srgbClr val="2B3F5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311896" y="221284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20344C"/>
          </a:solidFill>
          <a:ln w="10160">
            <a:solidFill>
              <a:srgbClr val="20344C">
                <a:alpha val="0"/>
              </a:srgbClr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3511" y="2315261"/>
            <a:ext cx="268834" cy="307238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8988552" y="2304288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37" name="Shape 32"/>
          <p:cNvSpPr/>
          <p:nvPr/>
        </p:nvSpPr>
        <p:spPr>
          <a:xfrm>
            <a:off x="8330184" y="2999232"/>
            <a:ext cx="91440" cy="91440"/>
          </a:xfrm>
          <a:prstGeom prst="ellipse">
            <a:avLst/>
          </a:prstGeom>
          <a:solidFill>
            <a:srgbClr val="F9B95E"/>
          </a:solidFill>
          <a:ln w="12700">
            <a:solidFill>
              <a:srgbClr val="F9B95E">
                <a:alpha val="0"/>
              </a:srgbClr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531352" y="2944368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CB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allocations and releases</a:t>
            </a:r>
            <a:endParaRPr lang="en-US" sz="1060" dirty="0"/>
          </a:p>
        </p:txBody>
      </p:sp>
      <p:sp>
        <p:nvSpPr>
          <p:cNvPr id="39" name="Shape 34"/>
          <p:cNvSpPr/>
          <p:nvPr/>
        </p:nvSpPr>
        <p:spPr>
          <a:xfrm>
            <a:off x="8330184" y="3392424"/>
            <a:ext cx="91440" cy="91440"/>
          </a:xfrm>
          <a:prstGeom prst="ellipse">
            <a:avLst/>
          </a:prstGeom>
          <a:solidFill>
            <a:srgbClr val="F9B95E"/>
          </a:solidFill>
          <a:ln w="12700">
            <a:solidFill>
              <a:srgbClr val="F9B95E">
                <a:alpha val="0"/>
              </a:srgbClr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8531352" y="333756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CB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remaining tracked blocks</a:t>
            </a:r>
            <a:endParaRPr lang="en-US" sz="1060" dirty="0"/>
          </a:p>
        </p:txBody>
      </p:sp>
      <p:sp>
        <p:nvSpPr>
          <p:cNvPr id="41" name="Shape 36"/>
          <p:cNvSpPr/>
          <p:nvPr/>
        </p:nvSpPr>
        <p:spPr>
          <a:xfrm>
            <a:off x="8330184" y="3785616"/>
            <a:ext cx="91440" cy="91440"/>
          </a:xfrm>
          <a:prstGeom prst="ellipse">
            <a:avLst/>
          </a:prstGeom>
          <a:solidFill>
            <a:srgbClr val="F9B95E"/>
          </a:solidFill>
          <a:ln w="12700">
            <a:solidFill>
              <a:srgbClr val="F9B95E">
                <a:alpha val="0"/>
              </a:srgbClr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8531352" y="3730752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CB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count and byte totals</a:t>
            </a:r>
            <a:endParaRPr lang="en-US" sz="1060" dirty="0"/>
          </a:p>
        </p:txBody>
      </p:sp>
      <p:sp>
        <p:nvSpPr>
          <p:cNvPr id="43" name="Shape 38"/>
          <p:cNvSpPr/>
          <p:nvPr/>
        </p:nvSpPr>
        <p:spPr>
          <a:xfrm>
            <a:off x="8330184" y="4178808"/>
            <a:ext cx="91440" cy="91440"/>
          </a:xfrm>
          <a:prstGeom prst="ellipse">
            <a:avLst/>
          </a:prstGeom>
          <a:solidFill>
            <a:srgbClr val="F9B95E"/>
          </a:solidFill>
          <a:ln w="12700">
            <a:solidFill>
              <a:srgbClr val="F9B95E">
                <a:alpha val="0"/>
              </a:srgbClr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8531352" y="4123944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CB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 with verified tests</a:t>
            </a:r>
            <a:endParaRPr lang="en-US" sz="1060" dirty="0"/>
          </a:p>
        </p:txBody>
      </p:sp>
      <p:sp>
        <p:nvSpPr>
          <p:cNvPr id="45" name="Shape 40"/>
          <p:cNvSpPr/>
          <p:nvPr/>
        </p:nvSpPr>
        <p:spPr>
          <a:xfrm>
            <a:off x="685800" y="5193792"/>
            <a:ext cx="10817352" cy="758952"/>
          </a:xfrm>
          <a:prstGeom prst="roundRect">
            <a:avLst>
              <a:gd name="adj" fmla="val 14458"/>
            </a:avLst>
          </a:prstGeom>
          <a:solidFill>
            <a:srgbClr val="1A3049"/>
          </a:solidFill>
          <a:ln w="10160">
            <a:solidFill>
              <a:srgbClr val="2E506A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932688" y="5385816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spc="110" kern="0" dirty="0">
                <a:solidFill>
                  <a:srgbClr val="41E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PROMISE</a:t>
            </a:r>
            <a:endParaRPr lang="en-US" sz="930" dirty="0"/>
          </a:p>
        </p:txBody>
      </p:sp>
      <p:sp>
        <p:nvSpPr>
          <p:cNvPr id="47" name="Text 42"/>
          <p:cNvSpPr txBox="1"/>
          <p:nvPr/>
        </p:nvSpPr>
        <p:spPr>
          <a:xfrm>
            <a:off x="2395728" y="5321808"/>
            <a:ext cx="8622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explainable memory leak report — backed by controlled tests, clear scope, and reproducible code.</a:t>
            </a:r>
            <a:endParaRPr lang="en-US" sz="1300" dirty="0"/>
          </a:p>
        </p:txBody>
      </p:sp>
      <p:sp>
        <p:nvSpPr>
          <p:cNvPr id="49" name="Text 44"/>
          <p:cNvSpPr txBox="1"/>
          <p:nvPr/>
        </p:nvSpPr>
        <p:spPr>
          <a:xfrm>
            <a:off x="4800600" y="643737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3C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E2D4"/>
          </a:solidFill>
          <a:ln w="12700">
            <a:solidFill>
              <a:srgbClr val="41E2D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7D8D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DEBUGGING SYSTEM  •  HACKATHON 2026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AB7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685800" y="278892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600" b="1" spc="200" kern="0" dirty="0">
                <a:solidFill>
                  <a:srgbClr val="41E2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KL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Debugging System with Memory Leak Detection and Reporting Tool</dc:title>
  <dc:subject>Memory Leak Detection and Reporting Tool</dc:subject>
  <dc:creator>KL University CSE Hackathon Team</dc:creator>
  <cp:lastModifiedBy>KL University CSE Hackathon Team</cp:lastModifiedBy>
  <cp:revision>1</cp:revision>
  <dcterms:created xsi:type="dcterms:W3CDTF">2026-10-15T13:59:43Z</dcterms:created>
  <dcterms:modified xsi:type="dcterms:W3CDTF">2026-10-15T13:59:43Z</dcterms:modified>
</cp:coreProperties>
</file>